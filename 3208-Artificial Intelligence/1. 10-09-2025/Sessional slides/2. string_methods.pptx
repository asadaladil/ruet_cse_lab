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7772400" cy="10058400"/>
  <p:defaultTextStyle>
    <a:defPPr>
      <a:defRPr lang="en-GB"/>
    </a:defPPr>
    <a:lvl1pPr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1">
            <a:extLst>
              <a:ext uri="{FF2B5EF4-FFF2-40B4-BE49-F238E27FC236}">
                <a16:creationId xmlns:a16="http://schemas.microsoft.com/office/drawing/2014/main" id="{CA84BFF5-9D56-6314-E288-13B9C7F15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FAAB621-9370-A5C0-EA3A-2DC1D5D8E6B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63588"/>
            <a:ext cx="5026025" cy="376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9D6EEBD-B5D2-95B6-F527-B3B06370D6C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77875" y="4776788"/>
            <a:ext cx="6215063" cy="452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A72B7FE-4A76-2F2D-82B1-7297D5FF2702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370263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smtClean="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FED000F-DD27-279A-335E-01337A82E920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398963" y="0"/>
            <a:ext cx="3370262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smtClean="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2826ED8-02F5-63C5-DBC3-B3929B1D6D7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9555163"/>
            <a:ext cx="3370263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 smtClean="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AB10167A-2DB7-C6DD-AD14-1291614B3FE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398963" y="9555163"/>
            <a:ext cx="3370262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88F96A64-B147-4D99-BE97-F7D0A4A2511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29EB3217-72DA-CFC2-6A20-628CA92196D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47E3A912-D0F0-44C1-A66F-4B3FB8ED467E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5A9AD3CA-EBF6-5D83-60CB-C534BAB46F11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E83D13CD-0656-2664-73C9-54BA32C965A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55F8C72F-FBF1-AE4D-2A19-6BB1925159E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C044F5E7-4096-41E4-AE80-553E52F7BC53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3F6E5C03-6DB3-108C-E893-DA9DE7E42997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DEE5A813-7632-6FFF-F6DC-20A2C315161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2CDDA04-EB57-B972-41DB-9080F19456B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75EF9BA6-E7BD-448C-848B-F78F047C3BCC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33F6D5D1-052D-1CDB-7BB4-1BE56E3F47C1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A726D5D3-479A-DDFF-D503-76D86DDC770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0EBEA3FB-14DF-CAF6-D4E6-B0E2588C5C0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2E08C822-DA56-46DF-B3EA-FFF5CDB7F43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Rectangle 1">
            <a:extLst>
              <a:ext uri="{FF2B5EF4-FFF2-40B4-BE49-F238E27FC236}">
                <a16:creationId xmlns:a16="http://schemas.microsoft.com/office/drawing/2014/main" id="{C2B5DECC-EDD2-BDA7-52BB-5A473E9F37DD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C36B2FCC-23D9-A34F-6ECD-FB214EBAF77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8285F12-A668-74B2-8323-72EE55C4D99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6ABB7232-AFBE-44DF-9A4F-4E08F8DFE6E2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FE74A0FC-48FE-1A4C-6235-4682C6B792B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595E8E78-67A8-E39D-DBDD-170EBF4C127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AAC8F1C-4E2B-9503-A66C-0423A5E368B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C456FA91-37F4-4377-983C-088C09DBC72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7D56A1D3-5CF9-B679-28C4-0B679610709E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F43DE9AE-64B3-3F19-2B0A-E2B8FAF9904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0ADD009-F513-A247-3630-FFC5A82B77D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A6B4919F-AE7F-4560-BA60-3E0981FFBE5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A766640E-EF21-7A01-B26C-3AAD398D31C4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38FB1734-DCE8-6038-C60E-C0E4B1B5DCD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9C713E6-B697-7F59-E020-DEE95DBF668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8A5E2FF8-0B1A-4569-8EB7-19338A56B315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ED4A0B39-45E2-0D20-A939-4E813BAC984A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2FE46FE8-BE8E-BEFF-5FDA-0A7A616B681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03DCF1DF-169D-74FF-C541-7034411B9D2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2ECAD6C8-0513-42B6-857C-4F0948E2B80F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2F614D3E-81B6-4578-4CB0-7CED9808D7BD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2FECC889-1AD0-666F-4DBE-B570AFFD671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B3AC47E6-BECB-392E-2934-F1094A9738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26FDCB10-FA2D-4CD0-ACE0-A1E5320A70F5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Rectangle 1">
            <a:extLst>
              <a:ext uri="{FF2B5EF4-FFF2-40B4-BE49-F238E27FC236}">
                <a16:creationId xmlns:a16="http://schemas.microsoft.com/office/drawing/2014/main" id="{C8680F71-3A8E-BB43-FB0B-ACBC436F5748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69344FCD-08A3-9C3A-AB2F-CA7E81E110E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AAEBBC84-C177-70CF-8A77-D0F28796B8F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972C2CB0-2EB9-4D8B-9D4E-A759B5DFDF35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11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4D339262-C2F1-A25C-3ACB-704F13286B4D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E79930F1-AE83-0E48-83FC-419CF7594BA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7896C00-7016-38DA-8AFB-051DC41133F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E05F5273-B409-4D1E-9C90-51034A1AB9E8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12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9" name="Rectangle 1">
            <a:extLst>
              <a:ext uri="{FF2B5EF4-FFF2-40B4-BE49-F238E27FC236}">
                <a16:creationId xmlns:a16="http://schemas.microsoft.com/office/drawing/2014/main" id="{3EDF2378-AB0A-A420-1798-F483F7D288EE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BD3367FB-AB9C-8DEB-3C52-C5BA859995F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028AC64-FFE1-4155-0E3D-09E6970CAD7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4AE68C1F-2EFA-4ABF-A229-ECF856C0E1D1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13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224CEDFB-1EF3-70B6-0D6B-3FE103848576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AF329079-9C12-E3B3-9BBB-C3309933754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6272CCE3-D872-87EA-DCA0-0FBC506D8AE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FC4CEC82-422D-4C7A-93D7-7F8F15C11320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14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Rectangle 1">
            <a:extLst>
              <a:ext uri="{FF2B5EF4-FFF2-40B4-BE49-F238E27FC236}">
                <a16:creationId xmlns:a16="http://schemas.microsoft.com/office/drawing/2014/main" id="{EEA55047-88C6-7D8F-20C2-B492FF8F765C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BB790110-7769-99E4-1ED1-9BD2A2AD97B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14F7046-0706-3CC1-74E3-10DCB0AA7B6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6F52FDE9-AB51-4CF5-A77E-3B4D479AEA34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15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2EEA554D-9B31-6445-3D2B-7EC045E44D5F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E2DBF230-3899-FA00-DA04-D4CC46AD95C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20F3B616-C858-16B3-7BE8-C0727A3E744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DF2DFEC3-DC8F-4772-8346-0623D867A6D9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16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5" name="Rectangle 1">
            <a:extLst>
              <a:ext uri="{FF2B5EF4-FFF2-40B4-BE49-F238E27FC236}">
                <a16:creationId xmlns:a16="http://schemas.microsoft.com/office/drawing/2014/main" id="{FFCBECFC-2B8E-3B57-D03D-E80869225219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180B34EB-E858-64FD-FFC1-BE339FA2DCD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2DAF8695-C415-7F34-7B12-0DB77F51CB7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31050DB0-9582-43F3-859C-CBC9EA5CF92A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17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Rectangle 1">
            <a:extLst>
              <a:ext uri="{FF2B5EF4-FFF2-40B4-BE49-F238E27FC236}">
                <a16:creationId xmlns:a16="http://schemas.microsoft.com/office/drawing/2014/main" id="{D6CFE16D-802A-1C08-9B9B-E2E545F6AF81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1E9DE2C3-3F0D-F7CB-4E21-93449465E96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2240F10-7B11-C876-E950-E68AC93E3D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2D8CB719-AC79-46D8-9C0A-770E0FC6E0EB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18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3" name="Rectangle 1">
            <a:extLst>
              <a:ext uri="{FF2B5EF4-FFF2-40B4-BE49-F238E27FC236}">
                <a16:creationId xmlns:a16="http://schemas.microsoft.com/office/drawing/2014/main" id="{EDCA3F17-A216-DCD7-51AB-D993C90B3D3F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A609FF83-6D0C-52CE-C171-06115D2722D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259B35E9-345B-9464-D141-879B2D768CC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B34E9A62-53FA-4065-BE1C-8BCAD87FA1B7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19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D25F5F76-831F-1834-E4A7-BBEF04A1880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67F7F834-099D-430F-8450-5FD7A2FD2F1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5C735069-7F13-64DC-AA3C-5B828C2C0CC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/>
            <a:fld id="{AED6BDE1-E741-40E0-AAC5-FA9D2E0431CE}" type="slidenum"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 eaLnBrk="1"/>
              <a:t>20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Rectangle 1">
            <a:extLst>
              <a:ext uri="{FF2B5EF4-FFF2-40B4-BE49-F238E27FC236}">
                <a16:creationId xmlns:a16="http://schemas.microsoft.com/office/drawing/2014/main" id="{9F0B4A41-7278-C626-BC21-63EF2F9E536E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195B4D12-60EA-B28D-B453-FF3E47B87B7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280D1B-16E7-CA0D-AD0E-B62864FF226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FD2E51-F6D8-1AFF-D6A1-9996CF7385E2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E5721F-8E01-4A78-BC01-D2F485357A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2746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E84DE1-2535-5B0E-8F99-1AC50B4FAC2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86CBF4-735F-DD6B-274E-D06E1432E27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F51084-25F5-47CC-9AF3-631D58A0C3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3135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3F9A69-C9FC-1E14-8249-88B3757D806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5A73103-B3CD-5167-8343-8074C90C24D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2E1BD5-F3AA-4B83-979F-BB4760FDFB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96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4522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7012" cy="4522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612E58-0106-D5BF-C038-851175333AE8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F167562-0AB4-EDAE-7C53-196F69907B6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3CBF3F-15D1-48D0-B8E6-6BED1C0751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507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17DF8C3-EA7E-9AA5-BF0D-F43D6343100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880F5C0-BCFD-8F23-EA2E-4EF270386832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C23A1E-3A11-4C92-A23A-D84C1165E7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3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4B303F-7F13-F477-227A-272A4BA460A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8A7BA2-3F9A-DFB7-F0BF-8CECA8D734C5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537547-9777-4B25-92A2-9B3DE693F2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139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68381A-DDA7-F4F4-B4FE-CDCFF06C8DD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3EBF0E9-B98C-4FDD-B2B5-0130A641AAAB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F877FB-9D25-4AD2-89CF-DBF9CA81EF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9557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5DC009-0EE2-0A68-398C-B144F68815B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339AE61-FF2D-0A88-D550-29EC5A984E8C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ACC6E5-075A-466D-A00C-C62A451832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680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57BF7D-AB66-8FFA-A484-1B5B67868D2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CD7E6A-780C-D4C1-0CB9-52467C2E6A30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7557FA-A93E-4E35-BC37-C28479DC41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50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C12654-83F0-33DA-D1C4-64E009B277E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AB7F40-BE85-47F3-A6EB-ED5DB5E1DE8E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3A4ABF-E7E9-49F1-AC23-D518D9C5BF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9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273050"/>
            <a:ext cx="2055812" cy="58547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8213" cy="58547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753140-9233-1BD1-D810-89A321E8941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C555606-717E-3969-8F7C-CB0A661DCD9A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FCA661-05F1-4595-988E-64D133D156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93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4F256389-2391-238D-48E1-65B1A435F939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57200" y="6356350"/>
            <a:ext cx="2130425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mtClean="0"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</a:lstStyle>
          <a:p>
            <a:pPr>
              <a:defRPr/>
            </a:pPr>
            <a:r>
              <a:rPr lang="en-US" altLang="en-US"/>
              <a:t>2/28/17</a:t>
            </a:r>
          </a:p>
        </p:txBody>
      </p:sp>
      <p:sp>
        <p:nvSpPr>
          <p:cNvPr id="1027" name="Text Box 2">
            <a:extLst>
              <a:ext uri="{FF2B5EF4-FFF2-40B4-BE49-F238E27FC236}">
                <a16:creationId xmlns:a16="http://schemas.microsoft.com/office/drawing/2014/main" id="{DA48AF32-72BE-A844-7859-4FF38FB21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4C974CC-5669-8F69-A28F-DDCCD1A9410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56350"/>
            <a:ext cx="2130425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5000" rIns="90000" bIns="450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0B2155E6-B158-474F-9648-DADF419444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2A8201B2-74A0-040E-7489-E17F5A942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6425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30" name="Rectangle 5">
            <a:extLst>
              <a:ext uri="{FF2B5EF4-FFF2-40B4-BE49-F238E27FC236}">
                <a16:creationId xmlns:a16="http://schemas.microsoft.com/office/drawing/2014/main" id="{45464327-9EB1-3696-0267-592AD240DA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6425" cy="452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457200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charset="0"/>
          <a:ea typeface="Microsoft YaHei" charset="-122"/>
        </a:defRPr>
      </a:lvl2pPr>
      <a:lvl3pPr algn="l" defTabSz="457200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charset="0"/>
          <a:ea typeface="Microsoft YaHei" charset="-122"/>
        </a:defRPr>
      </a:lvl3pPr>
      <a:lvl4pPr algn="l" defTabSz="457200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charset="0"/>
          <a:ea typeface="Microsoft YaHei" charset="-122"/>
        </a:defRPr>
      </a:lvl4pPr>
      <a:lvl5pPr algn="l" defTabSz="457200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charset="0"/>
          <a:ea typeface="Microsoft YaHei" charset="-122"/>
        </a:defRPr>
      </a:lvl5pPr>
      <a:lvl6pPr marL="2514600" indent="-228600" algn="l" defTabSz="457200" rtl="0" fontAlgn="base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Microsoft YaHei" charset="-122"/>
        </a:defRPr>
      </a:lvl6pPr>
      <a:lvl7pPr marL="2971800" indent="-228600" algn="l" defTabSz="457200" rtl="0" fontAlgn="base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Microsoft YaHei" charset="-122"/>
        </a:defRPr>
      </a:lvl7pPr>
      <a:lvl8pPr marL="3429000" indent="-228600" algn="l" defTabSz="457200" rtl="0" fontAlgn="base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Microsoft YaHei" charset="-122"/>
        </a:defRPr>
      </a:lvl8pPr>
      <a:lvl9pPr marL="3886200" indent="-228600" algn="l" defTabSz="457200" rtl="0" fontAlgn="base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Calibri" charset="0"/>
          <a:ea typeface="Microsoft YaHei" charset="-122"/>
        </a:defRPr>
      </a:lvl9pPr>
    </p:titleStyle>
    <p:bodyStyle>
      <a:lvl1pPr marL="342900" indent="-342900" algn="l" defTabSz="457200" rtl="0" eaLnBrk="0" fontAlgn="base" hangingPunct="0">
        <a:lnSpc>
          <a:spcPct val="102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102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lnSpc>
          <a:spcPct val="102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lnSpc>
          <a:spcPct val="102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lnSpc>
          <a:spcPct val="102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57200" rtl="0" fontAlgn="base">
        <a:lnSpc>
          <a:spcPct val="102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57200" rtl="0" fontAlgn="base">
        <a:lnSpc>
          <a:spcPct val="102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57200" rtl="0" fontAlgn="base">
        <a:lnSpc>
          <a:spcPct val="102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57200" rtl="0" fontAlgn="base">
        <a:lnSpc>
          <a:spcPct val="102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>
            <a:extLst>
              <a:ext uri="{FF2B5EF4-FFF2-40B4-BE49-F238E27FC236}">
                <a16:creationId xmlns:a16="http://schemas.microsoft.com/office/drawing/2014/main" id="{C58CAA1A-BCA2-EDDF-6114-93313FA00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16025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Strings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>
            <a:extLst>
              <a:ext uri="{FF2B5EF4-FFF2-40B4-BE49-F238E27FC236}">
                <a16:creationId xmlns:a16="http://schemas.microsoft.com/office/drawing/2014/main" id="{FBE9E0F5-34A5-3F9B-50F6-0CEB61FD0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16025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Remember: What is a string?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0EAB277-B0FB-D669-CDB7-2787236D2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84463"/>
            <a:ext cx="777240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 string is a sequence of zero or more characters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 string is delimited (begins and ends) by single or double quotes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poem = 'Ode to a Nightingale'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lyric = "Roll on, Columbia, roll on"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exclamation = "That makes me !#?</a:t>
            </a:r>
            <a:r>
              <a:rPr lang="en-US" altLang="en-US">
                <a:latin typeface="Calibri" charset="0"/>
              </a:rPr>
              <a:t> </a:t>
            </a:r>
            <a:r>
              <a:rPr lang="en-US" altLang="en-US">
                <a:latin typeface="Courier New" pitchFamily="48" charset="0"/>
              </a:rPr>
              <a:t>"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The empty string has zero characters (</a:t>
            </a:r>
            <a:r>
              <a:rPr lang="en-US" altLang="en-US" sz="2400">
                <a:latin typeface="Courier New" pitchFamily="48" charset="0"/>
              </a:rPr>
              <a:t>''</a:t>
            </a:r>
            <a:r>
              <a:rPr lang="en-US" altLang="en-US" sz="2400">
                <a:latin typeface="Calibri" charset="0"/>
              </a:rPr>
              <a:t> or </a:t>
            </a:r>
            <a:r>
              <a:rPr lang="en-US" altLang="en-US" sz="2400">
                <a:latin typeface="Courier New" pitchFamily="48" charset="0"/>
              </a:rPr>
              <a:t>""</a:t>
            </a:r>
            <a:r>
              <a:rPr lang="en-US" altLang="en-US" sz="2400">
                <a:latin typeface="Calibri" charset="0"/>
              </a:rP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>
            <a:extLst>
              <a:ext uri="{FF2B5EF4-FFF2-40B4-BE49-F238E27FC236}">
                <a16:creationId xmlns:a16="http://schemas.microsoft.com/office/drawing/2014/main" id="{8E55BCD2-A145-00F0-BF64-08C653D9B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Quote characters in strings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BA7BB550-93FD-F63F-E6EB-63884AE0D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24038"/>
            <a:ext cx="7772400" cy="449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You can include a single quote in a double quoted string or a double quote in a single quoted string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will = "All the world's a stage"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ben = 'BF: "A penny saved is a penny earned"'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To put a single quote in a single quoted string, precede it with the backslash ('\') or 'escape' character.  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will = 'All the world\'s a stage'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print(will)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All the world's a stage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The same goes for double quotes 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ben = "BF: \"A penny saved is a penny earned\""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print(ben)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BF: "A penny saved is a penny earned"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>
            <a:extLst>
              <a:ext uri="{FF2B5EF4-FFF2-40B4-BE49-F238E27FC236}">
                <a16:creationId xmlns:a16="http://schemas.microsoft.com/office/drawing/2014/main" id="{40E74511-01F2-A6E5-2D9E-B4BB65F08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Putting a format character in a string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B6626648-5938-F0DF-5502-E803C5F60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24038"/>
            <a:ext cx="7772400" cy="485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 format character is interpreted by the print() function to change the layout of text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To put a format character in a string, precede it with the backslash ('\')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 newline is represented by '\n'  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juliette = 'Good night, good night\nParting is such sweet sorrow'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print(juliette)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Good night, good night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Parting is such sweet sorrow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 tab is represented by '\t'  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tabs = 'col0\tcol1\tcol2'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print(tabs)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col0	col1	col2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0043AD87-D35C-A0D6-4418-273E7C456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Index of string characters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8AB93BD7-20C1-5CB1-89CE-474D655B0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24038"/>
            <a:ext cx="7772400" cy="415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The first character of a string has index 0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greeting = 'hello, world'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greeting[0]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'h'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'hello, world'[0]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'h'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You can also count back from the end of a string, beginning with -1 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greeting = 'hello, world'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greeting[-1]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'd'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'hello, world'[-1]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'd'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344F770C-8E3B-2F98-E9FA-B53F8DEF1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Slicing a string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2EE85350-DF98-9912-9476-8373B01B6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92263"/>
            <a:ext cx="7772400" cy="51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You can use indexes to slice (extract a piece of) a string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aStr[i:j] is the substring that begins with index i and ends with (but does not include) index j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greeting = 'hello, world'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greeting[1:3]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'el'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greeting[-3:-1]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'rl'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omit begin or end to mean 'as far as you can go' 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print(greeting[:4], greeting[7:])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hell world</a:t>
            </a:r>
          </a:p>
          <a:p>
            <a:pPr marL="341313" indent="-339725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aStr[i:j:k] is the same, but takes only every k-th character 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greeting[3:10:2]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'l,wr'</a:t>
            </a:r>
            <a:br>
              <a:rPr lang="en-US" altLang="en-US">
                <a:latin typeface="Courier New" pitchFamily="48" charset="0"/>
              </a:rPr>
            </a:br>
            <a:endParaRPr lang="en-US" altLang="en-US">
              <a:latin typeface="Courier New" pitchFamily="4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0434EAF3-8106-9A74-6F9A-A2328A9A4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Index/slice a string vs index/slice a list</a:t>
            </a:r>
          </a:p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How they're the same and how they're different</a:t>
            </a:r>
          </a:p>
        </p:txBody>
      </p:sp>
      <p:sp>
        <p:nvSpPr>
          <p:cNvPr id="8195" name="Rectangle 4">
            <a:extLst>
              <a:ext uri="{FF2B5EF4-FFF2-40B4-BE49-F238E27FC236}">
                <a16:creationId xmlns:a16="http://schemas.microsoft.com/office/drawing/2014/main" id="{2A63BE4E-D894-58B3-92A7-6D8D7ECF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24038"/>
            <a:ext cx="7772400" cy="324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800100" indent="-341313"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SAME: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You can index a list or string by providing an integer index value, beginning with 0 from the left or -1 from the right [i].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You can slice a list or string by providing begin and end values ([i:j]) or begin, end and step values ([i:j:k])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You can omit begin or end ([:j] or [i:]) to mean 'as far as you can go'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13780692-2CA8-7688-E99C-1C1203F52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List index vs string index (continued)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E33B7CA1-97ED-BE11-F31A-AE1968ACA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 marL="8001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DIFFERENT: </a:t>
            </a:r>
          </a:p>
          <a:p>
            <a:pPr lvl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if you reference a single element of a list with the index operator ([i]), its type is the type of that element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abc = ['a', 'b', 'c']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abc[0]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'a'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type(abc[0])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&lt;class 'str'&gt;</a:t>
            </a:r>
          </a:p>
          <a:p>
            <a:pPr marL="741363" lvl="1" indent="-282575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If you slice (extract a piece of) a list with begin and end ([i:j]) values, you get a sublist (type list)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abc[0:2]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['a', 'b']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type(abc[0:2])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&lt;class 'list'&gt;</a:t>
            </a:r>
            <a:br>
              <a:rPr lang="en-US" altLang="en-US">
                <a:latin typeface="Courier New" pitchFamily="48" charset="0"/>
              </a:rPr>
            </a:br>
            <a:endParaRPr lang="en-US" altLang="en-US">
              <a:latin typeface="Courier New" pitchFamily="4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0E7A634F-6900-5518-F129-EC5671F42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String methods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F2F02841-3A82-8197-D182-35F66ABD6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525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 method is a function that is bundled together with a particular type of object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 string method is a function that works on a string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This is the syntax of a method: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anObject.methodName(parameterList)</a:t>
            </a:r>
          </a:p>
          <a:p>
            <a:pPr marL="284163" indent="-282575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For example,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'avocado'.index('a')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0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 sz="2400">
                <a:latin typeface="Calibri" charset="0"/>
              </a:rPr>
              <a:t>    returns the index of the first 'a' in 'avocado'</a:t>
            </a:r>
          </a:p>
          <a:p>
            <a:pPr marL="284163" indent="-282575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You can also use a variable of type string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fruit = 'avocado'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fruit.index('a')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0 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endParaRPr lang="en-US" altLang="en-US">
              <a:latin typeface="Courier New" pitchFamily="4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5AEAA3E9-5266-A905-8543-5F284B201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Method parameters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3589E877-638E-0ED1-41E9-B963472FE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" y="1506538"/>
            <a:ext cx="7772400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Like any function, a method has zero or more parameters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Even if the parameter list is empty, the method still works on the 'calling' object: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's'.isupper()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False</a:t>
            </a:r>
          </a:p>
          <a:p>
            <a:pPr marL="284163" indent="-282575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Here is a string method that takes two parameters: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aStr = 'my cat is catatonic'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aStr.replace('cat', 'dog')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'my dog is dogatonic'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>
            <a:extLst>
              <a:ext uri="{FF2B5EF4-FFF2-40B4-BE49-F238E27FC236}">
                <a16:creationId xmlns:a16="http://schemas.microsoft.com/office/drawing/2014/main" id="{0451328D-C0A5-9B5C-D391-FB4DACC23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9686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Strings are immutable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E00A78D1-A487-E1CD-8A07-4E9DC6901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77938"/>
            <a:ext cx="7772400" cy="533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A string is immutable -- once created it can not be modified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When a string method returns a string, it is a different object; the original string is not changed 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aStr = 'my cat is catatonic'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newStr = aStr.replace('cat', 'dog')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newStr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'my dog is dogatonic'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aStr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'my cat is catatonic'</a:t>
            </a:r>
          </a:p>
          <a:p>
            <a:pPr marL="284163" indent="-282575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However, you can associate the old string name with the new object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aStr = 'my cat is catatonic'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aStr = aStr.replace('cat', 'dog')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aStr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'my dog is dogatonic'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EE851EDC-CAD2-B57C-B84E-C75DB03B6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Python string methods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96DF279-6CAE-754A-87D9-FFCDB3296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507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Python has many very useful string methods 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You should always look for and use an existing string method before coding it again for yourself.  Here are some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s.capitalize()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s.count()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s.endswith() / s.startswith()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s.find() / s.index()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s.format()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s.isalpha()/s.isdigit()/s.islower()/s.isspace()       s.join()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s.lower() / s.upper()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s.replace()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s.split()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s.strip()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endParaRPr lang="en-US" altLang="en-US">
              <a:latin typeface="Courier New" pitchFamily="4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E9DA86F8-FA65-81A6-036C-9B8C6C5BF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The split method</a:t>
            </a:r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4A9B8E4C-2F77-C7B8-9D1B-98DB2E951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542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marL="430213" indent="-215900"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The string method split() lets us separate a string into useful parts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  <a:buSzPct val="45000"/>
              <a:buFont typeface="Symbol" panose="05050102010706020507" pitchFamily="18" charset="2"/>
              <a:buChar char="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Common use: splitting a sentence into its words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Splits by space characters by default, but you can give it a different 'separator' string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&gt;&gt;&gt; s = "Captain, incoming transmission!"</a:t>
            </a:r>
            <a:b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&gt;&gt;&gt; print(s.split())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['Captain,', 'incoming', 'transmission!']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&gt;&gt;&gt; s = "a one, a two, a one two three four"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&gt;&gt;&gt; print(s.split(', '))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['a one', 'a two', 'a one two three four']</a:t>
            </a:r>
            <a:b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altLang="en-US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endParaRPr lang="en-US" altLang="en-US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7AA95533-1252-2248-B19F-D851996C1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The strip method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C473928D-77BF-421A-1719-F246A9BB1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444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The string method strip() “cleans” the edges of a string by removing the character(s) you specify (default: spaces)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		&gt;&gt;&gt; s = "(hello!)"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		&gt;&gt;&gt; print(s.strip("()!"))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		hello</a:t>
            </a:r>
          </a:p>
          <a:p>
            <a:pPr marL="344488" hangingPunct="1">
              <a:lnSpc>
                <a:spcPct val="100000"/>
              </a:lnSpc>
              <a:spcAft>
                <a:spcPts val="600"/>
              </a:spcAft>
              <a:buClrTx/>
              <a:buSzPct val="45000"/>
              <a:buFontTx/>
              <a:buNone/>
              <a:defRPr/>
            </a:pPr>
            <a:endParaRPr lang="en-US" altLang="en-US" sz="2400">
              <a:latin typeface="Calibri" charset="0"/>
            </a:endParaRP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The </a:t>
            </a:r>
            <a:r>
              <a:rPr lang="en-US" altLang="en-US" sz="2200">
                <a:latin typeface="Courier New" pitchFamily="48" charset="0"/>
              </a:rPr>
              <a:t>string</a:t>
            </a:r>
            <a:r>
              <a:rPr lang="en-US" altLang="en-US" sz="2400">
                <a:latin typeface="Calibri" charset="0"/>
              </a:rPr>
              <a:t> module contains a useful variable for this, called </a:t>
            </a:r>
            <a:r>
              <a:rPr lang="en-US" altLang="en-US" sz="2200">
                <a:latin typeface="Courier New" pitchFamily="48" charset="0"/>
              </a:rPr>
              <a:t>punctuation</a:t>
            </a:r>
            <a:r>
              <a:rPr lang="en-US" altLang="en-US" sz="2400">
                <a:latin typeface="Calibri" charset="0"/>
              </a:rPr>
              <a:t> (like how the </a:t>
            </a:r>
            <a:r>
              <a:rPr lang="en-US" altLang="en-US" sz="2200">
                <a:latin typeface="Courier New" pitchFamily="48" charset="0"/>
              </a:rPr>
              <a:t>math</a:t>
            </a:r>
            <a:r>
              <a:rPr lang="en-US" altLang="en-US" sz="2400">
                <a:latin typeface="Calibri" charset="0"/>
              </a:rPr>
              <a:t> module has </a:t>
            </a:r>
            <a:r>
              <a:rPr lang="en-US" altLang="en-US" sz="2200">
                <a:latin typeface="Courier New" pitchFamily="48" charset="0"/>
              </a:rPr>
              <a:t>pi</a:t>
            </a:r>
            <a:r>
              <a:rPr lang="en-US" altLang="en-US" sz="2400">
                <a:latin typeface="Calibri" charset="0"/>
              </a:rPr>
              <a:t>)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		&gt;&gt;&gt; import string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		&gt;&gt;&gt; string.punctuation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		'!"#$%&amp;\'()*+,-./:;&lt;=&gt;?@[\\]^_`{|}~'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endParaRPr lang="en-US" altLang="en-US">
              <a:latin typeface="Courier New" pitchFamily="4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4D88B069-C8CD-1A63-6750-C8AA4DD86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Using split() and strip() together</a:t>
            </a: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D547FE9F-FA1C-CEFB-B193-B5A6C7A08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The split method is useful for extracting words, and the strip method is useful for cleaning them up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Remember that strip() is a string method, </a:t>
            </a:r>
            <a:r>
              <a:rPr lang="en-US" alt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not</a:t>
            </a: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 a list method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</a:rPr>
              <a:t>&gt;&gt;&gt; import string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</a:rPr>
              <a:t>	&gt;&gt;&gt; words = ['How', 'are', 'you,', 'sir?']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</a:rPr>
              <a:t>	&gt;&gt;&gt; print(s.strip(string.punctuation))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>
                <a:solidFill>
                  <a:srgbClr val="FF3333"/>
                </a:solidFill>
                <a:latin typeface="Courier New" panose="02070309020205020404" pitchFamily="49" charset="0"/>
              </a:rPr>
              <a:t>AttributeError: 'list' object has no attribute 'strip'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So, how can we clean up every word in a sentence, once we've split it?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endParaRPr lang="en-US" altLang="en-US" sz="2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1AD0C688-E657-9C3E-3989-4D7CC32EF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Using split() and strip() together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EA70658A-7041-C4EE-AAEC-D9224D573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The strip() method works on one “word” at a time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panose="05000000000000000000" pitchFamily="2" charset="2"/>
              <a:buChar char=""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So, take it one word at a time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&gt;&gt;&gt; import string</a:t>
            </a:r>
            <a:b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&gt;&gt;&gt; words = ["It's", 'warm', 'today,', 'yeah?']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&gt;&gt;&gt; for item in words: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            print(item.strip(string.punctuation))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It's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warm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today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yeah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" panose="020F0502020204030204" pitchFamily="34" charset="0"/>
              </a:rPr>
              <a:t>Side question: why can't we just use the replace() method to get rid of punctuation like this?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0E00760D-E0C3-3834-0785-4FD40E959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Python string method documentation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86C5C9E1-D730-D1DD-3215-D8DE728A1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426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You can find the meaning of each of these string methods in the Python documentation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Some operations on strings also work with other sequence types, both mutable and immutable. For example: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x in s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x not in s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 + t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s*n / n*s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len(s)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min(s)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max(s)</a:t>
            </a:r>
            <a:br>
              <a:rPr lang="en-US" altLang="en-US">
                <a:latin typeface="Courier New" pitchFamily="48" charset="0"/>
              </a:rPr>
            </a:br>
            <a:endParaRPr lang="en-US" altLang="en-US">
              <a:latin typeface="Courier New" pitchFamily="4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D55EEA81-20A1-6000-2B9B-8FEB8EC43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Strings and the print() function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E045DA21-2B5A-F9FB-63C4-CC0451910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496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The print() function always prints a string. The input() function always inputs a string.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Every object in Python has a string representation. Therefore, every object can be printed.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When you print a number, a list or a function it is the string representation of the object that is printed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print() takes 0 or more arguments and prints their string representations, separated by spaces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print('pi =', 3.14) 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pi = 3.14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def f():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        pass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&gt;&gt;&gt; print(f)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&lt;function f at 0x02C4BD20&gt;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FC235402-5338-E12F-DBB4-EA88EEEA2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The print separator and end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D46B8146-BCB9-8903-9382-795898961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51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By default, print() separates multiple outputs with spaces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You can change this to any string that you want, for example, a colon and a space (': ')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print(1, 2, 3, sep=': ')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1: 2: 3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By default, print() ends its output with a newline ('\n')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 for i in range(3):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        print(i)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0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1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2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>
                <a:latin typeface="Calibri" charset="0"/>
              </a:rPr>
              <a:t>You can change this, for example, to a hyphen</a:t>
            </a:r>
          </a:p>
          <a:p>
            <a:pPr marL="9144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>
                <a:latin typeface="Courier New" pitchFamily="48" charset="0"/>
              </a:rPr>
              <a:t>&gt;&gt;&gt;for i in range(3):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       print(i, end='-')</a:t>
            </a:r>
            <a:br>
              <a:rPr lang="en-US" altLang="en-US">
                <a:latin typeface="Courier New" pitchFamily="48" charset="0"/>
              </a:rPr>
            </a:br>
            <a:r>
              <a:rPr lang="en-US" altLang="en-US">
                <a:latin typeface="Courier New" pitchFamily="48" charset="0"/>
              </a:rPr>
              <a:t>0-1-2-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EF769AF4-A592-570B-33B6-C337FC1E4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81013"/>
            <a:ext cx="77724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Calibri" panose="020F0502020204030204" pitchFamily="34" charset="0"/>
              </a:rPr>
              <a:t>The string format method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8AB1ABB7-E6FA-8E2F-017C-8EA5A587A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06538"/>
            <a:ext cx="7772400" cy="3960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 marL="342900" indent="-341313"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1pPr>
            <a:lvl2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2pPr>
            <a:lvl3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3pPr>
            <a:lvl4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4pPr>
            <a:lvl5pPr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342900" algn="l"/>
                <a:tab pos="800100" algn="l"/>
                <a:tab pos="1257300" algn="l"/>
                <a:tab pos="1714500" algn="l"/>
                <a:tab pos="2171700" algn="l"/>
                <a:tab pos="2628900" algn="l"/>
                <a:tab pos="3086100" algn="l"/>
                <a:tab pos="3543300" algn="l"/>
                <a:tab pos="4000500" algn="l"/>
                <a:tab pos="4457700" algn="l"/>
                <a:tab pos="4914900" algn="l"/>
                <a:tab pos="5372100" algn="l"/>
                <a:tab pos="5829300" algn="l"/>
                <a:tab pos="6286500" algn="l"/>
                <a:tab pos="6743700" algn="l"/>
                <a:tab pos="7200900" algn="l"/>
                <a:tab pos="7658100" algn="l"/>
                <a:tab pos="8115300" algn="l"/>
                <a:tab pos="8572500" algn="l"/>
                <a:tab pos="9029700" algn="l"/>
                <a:tab pos="9486900" algn="l"/>
              </a:tabLst>
              <a:defRPr>
                <a:solidFill>
                  <a:srgbClr val="000000"/>
                </a:solidFill>
                <a:latin typeface="Arial" charset="0"/>
                <a:ea typeface="Microsoft YaHei" charset="-122"/>
              </a:defRPr>
            </a:lvl9pPr>
          </a:lstStyle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 dirty="0">
                <a:latin typeface="Calibri" charset="0"/>
              </a:rPr>
              <a:t>The string format() method allows you detailed control over what is printed and its arrangement (including alignment; width; your choice of date, time and number formats; and many other things). </a:t>
            </a:r>
          </a:p>
          <a:p>
            <a:pPr hangingPunct="1">
              <a:lnSpc>
                <a:spcPct val="100000"/>
              </a:lnSpc>
              <a:spcAft>
                <a:spcPts val="600"/>
              </a:spcAft>
              <a:buClr>
                <a:srgbClr val="800000"/>
              </a:buClr>
              <a:buSzPct val="45000"/>
              <a:buFont typeface="Wingdings" charset="2"/>
              <a:buChar char=""/>
              <a:defRPr/>
            </a:pPr>
            <a:r>
              <a:rPr lang="en-US" altLang="en-US" sz="2400" dirty="0">
                <a:latin typeface="Calibri" charset="0"/>
              </a:rPr>
              <a:t>Here is an example of how </a:t>
            </a:r>
            <a:r>
              <a:rPr lang="en-US" altLang="en-US" sz="2400" dirty="0" err="1">
                <a:latin typeface="Calibri" charset="0"/>
              </a:rPr>
              <a:t>s.format</a:t>
            </a:r>
            <a:r>
              <a:rPr lang="en-US" altLang="en-US" sz="2400" dirty="0">
                <a:latin typeface="Calibri" charset="0"/>
              </a:rPr>
              <a:t>() can be used to control what is printed: 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 dirty="0">
                <a:latin typeface="Courier New" pitchFamily="48" charset="0"/>
              </a:rPr>
              <a:t>&gt;&gt;&gt; print('{} is {}'.format('Big Bird', 'yellow'))</a:t>
            </a:r>
            <a:br>
              <a:rPr lang="en-US" altLang="en-US" dirty="0">
                <a:latin typeface="Courier New" pitchFamily="48" charset="0"/>
              </a:rPr>
            </a:br>
            <a:r>
              <a:rPr lang="en-US" altLang="en-US" dirty="0">
                <a:latin typeface="Courier New" pitchFamily="48" charset="0"/>
              </a:rPr>
              <a:t>Big Bird is yellow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r>
              <a:rPr lang="en-US" altLang="en-US" dirty="0">
                <a:latin typeface="Courier New" pitchFamily="48" charset="0"/>
              </a:rPr>
              <a:t>&gt;&gt;&gt; print('{} is {}'.format('Oscar', 'grumpy'))</a:t>
            </a:r>
            <a:br>
              <a:rPr lang="en-US" altLang="en-US" dirty="0">
                <a:latin typeface="Courier New" pitchFamily="48" charset="0"/>
              </a:rPr>
            </a:br>
            <a:r>
              <a:rPr lang="en-US" altLang="en-US" dirty="0">
                <a:latin typeface="Courier New" pitchFamily="48" charset="0"/>
              </a:rPr>
              <a:t>Oscar is grumpy</a:t>
            </a:r>
          </a:p>
          <a:p>
            <a:pPr marL="457200" indent="0" hangingPunct="1">
              <a:lnSpc>
                <a:spcPct val="100000"/>
              </a:lnSpc>
              <a:spcAft>
                <a:spcPts val="600"/>
              </a:spcAft>
              <a:buClrTx/>
              <a:buFontTx/>
              <a:buNone/>
              <a:defRPr/>
            </a:pPr>
            <a:endParaRPr lang="en-US" altLang="en-US" dirty="0">
              <a:latin typeface="Courier New" pitchFamily="4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icrosoft YaHei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Microsoft YaHei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34456</TotalTime>
  <Words>1938</Words>
  <Application>Microsoft Office PowerPoint</Application>
  <PresentationFormat>On-screen Show (4:3)</PresentationFormat>
  <Paragraphs>160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Mazharul Islam Tusher</cp:lastModifiedBy>
  <cp:revision>3</cp:revision>
  <cp:lastPrinted>1601-01-01T00:00:00Z</cp:lastPrinted>
  <dcterms:created xsi:type="dcterms:W3CDTF">1601-01-01T00:00:00Z</dcterms:created>
  <dcterms:modified xsi:type="dcterms:W3CDTF">2024-05-24T11:22:21Z</dcterms:modified>
</cp:coreProperties>
</file>