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CD310-731E-96C4-1A15-53536DC37C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360770-3F78-BF77-CCB1-FDE1C561E5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5B2A2-5DEF-D9BC-683B-DDE20A532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4DD8-BB12-4A44-AC6A-B0CC467ABA9A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1FD9F6-EA5E-31F8-9D63-36C7A2614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3DA017-074A-7513-601A-6EB8A7115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8E6F3-53D7-423C-9912-FB6E601CB5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028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CF543-6E52-5AB5-2A77-3D9042F35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943C9-51A4-F6EB-132B-4A91B81E77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0B100F-57EC-9884-4025-56FD29E02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4DD8-BB12-4A44-AC6A-B0CC467ABA9A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EA0904-03A4-85B2-BF8B-05E2A8205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21342-9DD9-2313-3989-F1CB611CF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8E6F3-53D7-423C-9912-FB6E601CB5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608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BCDA5-B12B-3363-C834-C74AEBEE2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E54CB6-8D51-B53E-4AA9-42C3A4060F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23DAA2-C1DB-F67F-BD14-5ECC48EB5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4DD8-BB12-4A44-AC6A-B0CC467ABA9A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05680A-372F-9F9F-942E-BCE322843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4E5A64-04E0-39C3-6891-128D832CE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8E6F3-53D7-423C-9912-FB6E601CB5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331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B81C8-776E-FC52-7395-E4DBA35A6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5DD69-B84D-CC8E-B412-6AE8120772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FA57DB-2D90-4872-0FB8-D0B7ACE1E0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4240E0-07AA-D8FF-2F88-EDEB0C3A3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4DD8-BB12-4A44-AC6A-B0CC467ABA9A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CBB494-FD6C-E832-289F-5C4798509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1A9130-70F4-1AAC-55F7-B5870EEAA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8E6F3-53D7-423C-9912-FB6E601CB5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670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64D03-C0A3-B7AC-0FF1-C6ECC5D17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7EFC9C-5D69-87C9-4EAE-478721EF77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1ABE8A-8CFA-532A-A6A3-8755A3A871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DB7800-70B9-8E9C-4CF8-2D5F546196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931F52-3FBA-C877-5B33-CF3D472B27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FA7D89-753E-1080-29F4-C2A79BD83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4DD8-BB12-4A44-AC6A-B0CC467ABA9A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86D8B5-9AD5-B8A4-BF89-CCA7763B2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3366B5-C8E6-91EC-6FEF-246C0D335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8E6F3-53D7-423C-9912-FB6E601CB5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885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82DD1-D3F5-0150-8CBD-12FB4D349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4CD5C7-DFC2-F154-43E2-63E128FF0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4DD8-BB12-4A44-AC6A-B0CC467ABA9A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453D7C-681F-B6B2-22C3-B48175D17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E393F6-0767-11AB-5964-3E920888B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8E6F3-53D7-423C-9912-FB6E601CB5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384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8CA225-3F48-63E6-7751-A9309388B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4DD8-BB12-4A44-AC6A-B0CC467ABA9A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0A46FB-6134-08DA-33A2-764B93E3B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2C43CA-B6A6-2F1C-8148-AA73C60F9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8E6F3-53D7-423C-9912-FB6E601CB5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10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1AF6B-599F-F907-62CA-4E4C28AEE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72BE1-2933-61E6-9B1B-BC0A4B963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948498-89E8-E5F1-7066-C804B75D34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A9D439-D1CA-A76A-1E86-BC9BA40CA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4DD8-BB12-4A44-AC6A-B0CC467ABA9A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44197D-1AA7-B69E-C4B5-8464C0E9C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4312A1-C177-09BF-C74E-6B3D0AAB9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8E6F3-53D7-423C-9912-FB6E601CB5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053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33E86-74DC-DFB8-17B5-866A5419B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D9DB43-7A53-784F-0A84-CA329AD6E5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8F0B11-32A0-763A-EA18-3547AEBAB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7D1FE4-092F-D3CE-416E-4D71C7D29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4DD8-BB12-4A44-AC6A-B0CC467ABA9A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35D539-CAC3-3044-43C2-926AF84D3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8E9FE5-A6FE-AA5A-5D90-23FB8F7EC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8E6F3-53D7-423C-9912-FB6E601CB5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716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F75A-E49A-2369-94BA-B6A519D46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58F520-8810-D4E4-1A66-A48AC85BE9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9DD355-2328-2E73-6BCC-7B7BAA6EB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4DD8-BB12-4A44-AC6A-B0CC467ABA9A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32B5EC-51AD-2E73-D25F-1EE606C07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1B135-6114-17C3-7C9A-6A307B7F1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8E6F3-53D7-423C-9912-FB6E601CB5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640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E48686-1CE0-787D-4B89-F4C8F7AFD3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1EE765-200B-77F7-005E-C0E8D471D3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E49D2-BE37-DCAF-10BD-E6DE65F2C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4DD8-BB12-4A44-AC6A-B0CC467ABA9A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5FF1FA-3B2F-A309-2E44-6FF8C047A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2EB018-4866-726F-BC59-71FF6C65C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8E6F3-53D7-423C-9912-FB6E601CB5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02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D0D453-704A-F88E-BF07-0E36D9717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3257E3-53C1-CEF2-9ED1-AFC7797BED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8F5A1-9543-41CD-F77A-CDE28166D5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064DD8-BB12-4A44-AC6A-B0CC467ABA9A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B6066-06F3-28FA-BCDE-89FC999A03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E2C7C6-318A-86F1-F8B8-C88E3FB410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F8E6F3-53D7-423C-9912-FB6E601CB5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048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D93DA-5F1E-7D46-7485-E1D8A758D7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Conditions, Loops and Functions</a:t>
            </a:r>
          </a:p>
        </p:txBody>
      </p:sp>
    </p:spTree>
    <p:extLst>
      <p:ext uri="{BB962C8B-B14F-4D97-AF65-F5344CB8AC3E}">
        <p14:creationId xmlns:p14="http://schemas.microsoft.com/office/powerpoint/2010/main" val="348243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E3584-E04E-41F7-5D97-EDC1634B3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E1F8C-E752-2538-22D4-5458A77ADE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Python supports the usual logical conditions from mathematics: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Equals: </a:t>
            </a:r>
            <a:r>
              <a:rPr lang="en-US" sz="2000" b="0" i="0" dirty="0">
                <a:solidFill>
                  <a:srgbClr val="DC143C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 == b</a:t>
            </a:r>
            <a:endParaRPr lang="en-US" sz="20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Verdana" panose="020B060403050404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Not Equals: </a:t>
            </a:r>
            <a:r>
              <a:rPr lang="en-US" sz="2000" b="0" i="0" dirty="0">
                <a:solidFill>
                  <a:srgbClr val="DC143C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 != b</a:t>
            </a:r>
            <a:endParaRPr lang="en-US" sz="20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Verdana" panose="020B060403050404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Less than: </a:t>
            </a:r>
            <a:r>
              <a:rPr lang="en-US" sz="2000" b="0" i="0" dirty="0">
                <a:solidFill>
                  <a:srgbClr val="DC143C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 &lt; b</a:t>
            </a:r>
            <a:endParaRPr lang="en-US" sz="20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Verdana" panose="020B060403050404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Less than or equal to: </a:t>
            </a:r>
            <a:r>
              <a:rPr lang="en-US" sz="2000" b="0" i="0" dirty="0">
                <a:solidFill>
                  <a:srgbClr val="DC143C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 &lt;= b</a:t>
            </a:r>
            <a:endParaRPr lang="en-US" sz="20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Verdana" panose="020B060403050404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Greater than: </a:t>
            </a:r>
            <a:r>
              <a:rPr lang="en-US" sz="2000" b="0" i="0" dirty="0">
                <a:solidFill>
                  <a:srgbClr val="DC143C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 &gt; b</a:t>
            </a:r>
            <a:endParaRPr lang="en-US" sz="20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Verdana" panose="020B060403050404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Greater than or equal to: </a:t>
            </a:r>
            <a:r>
              <a:rPr lang="en-US" sz="2000" b="0" i="0" dirty="0">
                <a:solidFill>
                  <a:srgbClr val="DC143C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 &gt;= b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dirty="0">
                <a:highlight>
                  <a:srgbClr val="FFFFFF"/>
                </a:highlight>
                <a:latin typeface="Consolas" panose="020B0609020204030204" pitchFamily="49" charset="0"/>
              </a:rPr>
              <a:t>Logical Operators: </a:t>
            </a:r>
            <a:r>
              <a:rPr lang="en-US" sz="2000" dirty="0">
                <a:solidFill>
                  <a:srgbClr val="DC143C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and, or, not</a:t>
            </a:r>
            <a:endParaRPr lang="en-US" sz="20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Verdana" panose="020B060403050404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0931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8F277-A559-5A28-7CEA-D3C08C4D1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Conditions (If…</a:t>
            </a:r>
            <a:r>
              <a:rPr lang="en-US" dirty="0" err="1"/>
              <a:t>elif</a:t>
            </a:r>
            <a:r>
              <a:rPr lang="en-US" dirty="0"/>
              <a:t>…else)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80FEE-C597-9BAD-E574-0AB35E2B30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The given source code defines multiple conditions: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F5E6D2-1936-A0F8-C0FD-D18D8C1BD4F9}"/>
              </a:ext>
            </a:extLst>
          </p:cNvPr>
          <p:cNvSpPr txBox="1"/>
          <p:nvPr/>
        </p:nvSpPr>
        <p:spPr>
          <a:xfrm>
            <a:off x="6934986" y="3539629"/>
            <a:ext cx="20052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Output?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3B2483-C571-E769-0AAD-E2B26F828EBF}"/>
              </a:ext>
            </a:extLst>
          </p:cNvPr>
          <p:cNvSpPr txBox="1"/>
          <p:nvPr/>
        </p:nvSpPr>
        <p:spPr>
          <a:xfrm>
            <a:off x="1209443" y="2428725"/>
            <a:ext cx="4656841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 = 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200</a:t>
            </a: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b = 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33</a:t>
            </a:r>
            <a:br>
              <a:rPr lang="en-US" sz="2000" dirty="0"/>
            </a:br>
            <a:r>
              <a:rPr lang="en-US" sz="20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b &gt; a:</a:t>
            </a: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 </a:t>
            </a:r>
            <a:r>
              <a:rPr lang="en-US" sz="20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print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000" b="0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"b is greater than a"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br>
              <a:rPr lang="en-US" sz="2000" dirty="0"/>
            </a:br>
            <a:r>
              <a:rPr lang="en-US" sz="2000" b="0" i="0" dirty="0" err="1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elif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a == b:</a:t>
            </a: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 </a:t>
            </a:r>
            <a:r>
              <a:rPr lang="en-US" sz="20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print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000" b="0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"a and b are equal"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br>
              <a:rPr lang="en-US" sz="2000" dirty="0"/>
            </a:br>
            <a:r>
              <a:rPr lang="en-US" sz="20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 </a:t>
            </a:r>
            <a:r>
              <a:rPr lang="en-US" sz="20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print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000" b="0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"a is greater than b"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74037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9449A-60D0-754F-BB98-927B9DCC4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Conditions (Nested If)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45749-113C-AABD-BF4B-F9FF1B1D246D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 = 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41</a:t>
            </a:r>
            <a:br>
              <a:rPr lang="en-US" sz="2000" dirty="0"/>
            </a:br>
            <a:br>
              <a:rPr lang="en-US" sz="2000" dirty="0"/>
            </a:br>
            <a:r>
              <a:rPr lang="en-US" sz="20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x &gt; 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10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 </a:t>
            </a:r>
            <a:r>
              <a:rPr lang="en-US" sz="20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print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000" b="0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"Above ten,"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 </a:t>
            </a:r>
            <a:r>
              <a:rPr lang="en-US" sz="20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x &gt; 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20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   </a:t>
            </a:r>
            <a:r>
              <a:rPr lang="en-US" sz="20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print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000" b="0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"and also above 20!"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 </a:t>
            </a:r>
            <a:r>
              <a:rPr lang="en-US" sz="20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   </a:t>
            </a:r>
            <a:r>
              <a:rPr lang="en-US" sz="20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print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000" b="0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"but not above 20."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FCBFCD-A48C-6366-E430-98880401615D}"/>
              </a:ext>
            </a:extLst>
          </p:cNvPr>
          <p:cNvSpPr txBox="1"/>
          <p:nvPr/>
        </p:nvSpPr>
        <p:spPr>
          <a:xfrm>
            <a:off x="947973" y="4845021"/>
            <a:ext cx="20052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Output?</a:t>
            </a:r>
          </a:p>
        </p:txBody>
      </p:sp>
    </p:spTree>
    <p:extLst>
      <p:ext uri="{BB962C8B-B14F-4D97-AF65-F5344CB8AC3E}">
        <p14:creationId xmlns:p14="http://schemas.microsoft.com/office/powerpoint/2010/main" val="2246610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EA5F5-6DB4-D2B0-0B79-D3367C3E5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80835-3917-0B6A-D92A-DE4EA51C7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A </a:t>
            </a:r>
            <a:r>
              <a:rPr lang="en-US" sz="20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 loop is used for iterating over a sequence (that is either a list, a tuple, a dictionary, a set, or a string).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Verdana" panose="020B0604030504040204" pitchFamily="34" charset="0"/>
              </a:rPr>
              <a:t>Example:</a:t>
            </a:r>
          </a:p>
          <a:p>
            <a:pPr marL="0" indent="0">
              <a:buNone/>
            </a:pPr>
            <a:endParaRPr lang="en-US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Verdan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659CDD-04A1-07CD-DCD5-77DB25690477}"/>
              </a:ext>
            </a:extLst>
          </p:cNvPr>
          <p:cNvSpPr txBox="1"/>
          <p:nvPr/>
        </p:nvSpPr>
        <p:spPr>
          <a:xfrm>
            <a:off x="1105665" y="3100012"/>
            <a:ext cx="5205663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fruits = ["apple", "banana", "cherry"]</a:t>
            </a:r>
          </a:p>
          <a:p>
            <a:r>
              <a:rPr lang="en-US" sz="2000" dirty="0"/>
              <a:t>for x in fruits:</a:t>
            </a:r>
          </a:p>
          <a:p>
            <a:r>
              <a:rPr lang="en-US" sz="2000" dirty="0"/>
              <a:t>  print(x)</a:t>
            </a:r>
          </a:p>
        </p:txBody>
      </p:sp>
    </p:spTree>
    <p:extLst>
      <p:ext uri="{BB962C8B-B14F-4D97-AF65-F5344CB8AC3E}">
        <p14:creationId xmlns:p14="http://schemas.microsoft.com/office/powerpoint/2010/main" val="4110467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52DD2-BCFD-B805-3D38-4FBCBD190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Loops (break &amp; continue Statement)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77D40-93A1-E71B-1047-DB7916F839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With the </a:t>
            </a:r>
            <a:r>
              <a:rPr lang="en-US" sz="20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 statement we can stop the loop before it has looped through all the items:</a:t>
            </a:r>
          </a:p>
          <a:p>
            <a:endParaRPr lang="en-US" sz="20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Verdana" panose="020B0604030504040204" pitchFamily="34" charset="0"/>
            </a:endParaRP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With the </a:t>
            </a:r>
            <a:r>
              <a:rPr lang="en-US" sz="20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continue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 statement we can stop the current iteration of the loop, and continue with the next: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7DF1AC-EECA-CD24-3EB2-428BCE34AA6B}"/>
              </a:ext>
            </a:extLst>
          </p:cNvPr>
          <p:cNvSpPr txBox="1"/>
          <p:nvPr/>
        </p:nvSpPr>
        <p:spPr>
          <a:xfrm>
            <a:off x="1008668" y="2523966"/>
            <a:ext cx="5882326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fruits = [</a:t>
            </a:r>
            <a:r>
              <a:rPr lang="en-US" b="0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"apple"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"banana"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"cherry"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br>
              <a:rPr lang="en-US" dirty="0"/>
            </a:br>
            <a:r>
              <a:rPr lang="en-US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x </a:t>
            </a:r>
            <a:r>
              <a:rPr lang="en-US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fruits: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x == </a:t>
            </a:r>
            <a:r>
              <a:rPr lang="en-US" b="0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"banana"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   </a:t>
            </a:r>
            <a:r>
              <a:rPr lang="en-US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break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print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(x)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993A71-8B4D-E138-80A3-081B436FF9A5}"/>
              </a:ext>
            </a:extLst>
          </p:cNvPr>
          <p:cNvSpPr txBox="1"/>
          <p:nvPr/>
        </p:nvSpPr>
        <p:spPr>
          <a:xfrm>
            <a:off x="1008668" y="4834572"/>
            <a:ext cx="5882326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fruits = [</a:t>
            </a:r>
            <a:r>
              <a:rPr lang="en-US" b="0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"apple"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"banana"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"cherry"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br>
              <a:rPr lang="en-US" dirty="0"/>
            </a:br>
            <a:r>
              <a:rPr lang="en-US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x </a:t>
            </a:r>
            <a:r>
              <a:rPr lang="en-US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fruits: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x == </a:t>
            </a:r>
            <a:r>
              <a:rPr lang="en-US" b="0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"banana"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   </a:t>
            </a:r>
            <a:r>
              <a:rPr lang="en-US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continue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print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(x)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7056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FEC7A-8C6A-3A6B-B5AE-77B466D24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 (range Function)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71A528-E57D-D93C-3986-D7120DE0B9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The </a:t>
            </a:r>
            <a:r>
              <a:rPr lang="en-US" sz="20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range()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 function returns a sequence of numbers, starting from 0 by default, and increments by 1 (by default), and ends at a specified number.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We can specify a starting value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We can also specify the increment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7545E8-5CDA-4353-5529-CC2CB1715883}"/>
              </a:ext>
            </a:extLst>
          </p:cNvPr>
          <p:cNvSpPr txBox="1"/>
          <p:nvPr/>
        </p:nvSpPr>
        <p:spPr>
          <a:xfrm>
            <a:off x="1121397" y="2612123"/>
            <a:ext cx="632538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x </a:t>
            </a:r>
            <a:r>
              <a:rPr lang="en-US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</a:t>
            </a:r>
            <a:r>
              <a:rPr lang="en-US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range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6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):      #prints from 0 up to 5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print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(x)         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9180EA-5FC8-0331-C7E4-6A494DB4FAC4}"/>
              </a:ext>
            </a:extLst>
          </p:cNvPr>
          <p:cNvSpPr txBox="1"/>
          <p:nvPr/>
        </p:nvSpPr>
        <p:spPr>
          <a:xfrm>
            <a:off x="1121397" y="3748212"/>
            <a:ext cx="632538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x </a:t>
            </a:r>
            <a:r>
              <a:rPr lang="en-US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</a:t>
            </a:r>
            <a:r>
              <a:rPr lang="en-US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range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6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):  #prints from 2 up to 5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print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(x)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CF1ACF-55DE-D5D2-6DF1-44D337BBEEA8}"/>
              </a:ext>
            </a:extLst>
          </p:cNvPr>
          <p:cNvSpPr txBox="1"/>
          <p:nvPr/>
        </p:nvSpPr>
        <p:spPr>
          <a:xfrm>
            <a:off x="1121397" y="4962587"/>
            <a:ext cx="632538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x </a:t>
            </a:r>
            <a:r>
              <a:rPr lang="en-US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</a:t>
            </a:r>
            <a:r>
              <a:rPr lang="en-US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range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30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3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):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print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(x)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7233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04A3E-7CE2-A24A-00AB-83EE5FC5A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Nested for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1CB2A-6059-0158-428F-5E7F193F11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A nested loop is a loop inside a loop. The "inner loop" will be executed one time for each iteration of the "outer loop":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D11653-B931-A089-8F61-85016999B969}"/>
              </a:ext>
            </a:extLst>
          </p:cNvPr>
          <p:cNvSpPr txBox="1"/>
          <p:nvPr/>
        </p:nvSpPr>
        <p:spPr>
          <a:xfrm>
            <a:off x="1121789" y="2842180"/>
            <a:ext cx="5986020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adj = [</a:t>
            </a:r>
            <a:r>
              <a:rPr lang="en-US" b="0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"red"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"big"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"tasty"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fruits = [</a:t>
            </a:r>
            <a:r>
              <a:rPr lang="en-US" b="0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"apple"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"banana"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"cherry"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br>
              <a:rPr lang="en-US" dirty="0"/>
            </a:br>
            <a:br>
              <a:rPr lang="en-US" dirty="0"/>
            </a:br>
            <a:r>
              <a:rPr lang="en-US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x </a:t>
            </a:r>
            <a:r>
              <a:rPr lang="en-US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adj: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y </a:t>
            </a:r>
            <a:r>
              <a:rPr lang="en-US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fruits: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   </a:t>
            </a:r>
            <a:r>
              <a:rPr lang="en-US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print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(x, y)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76604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7B41C-E2AF-CCBE-F2FF-383D31088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AAAE4-2C87-0106-E419-E7B1048E0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With the </a:t>
            </a:r>
            <a:r>
              <a:rPr lang="en-US" sz="20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 loop we can execute a set of statements as long as a condition is true.</a:t>
            </a:r>
          </a:p>
          <a:p>
            <a:pPr marL="0" indent="0">
              <a:buNone/>
            </a:pPr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Verdana" panose="020B0604030504040204" pitchFamily="34" charset="0"/>
            </a:endParaRPr>
          </a:p>
          <a:p>
            <a:pPr marL="0" indent="0">
              <a:buNone/>
            </a:pPr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Verdana" panose="020B0604030504040204" pitchFamily="34" charset="0"/>
            </a:endParaRPr>
          </a:p>
          <a:p>
            <a:pPr marL="0" indent="0">
              <a:buNone/>
            </a:pPr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Verdana" panose="020B0604030504040204" pitchFamily="34" charset="0"/>
            </a:endParaRPr>
          </a:p>
          <a:p>
            <a:pPr marL="0" indent="0">
              <a:buNone/>
            </a:pPr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Verdana" panose="020B0604030504040204" pitchFamily="34" charset="0"/>
            </a:endParaRP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Verdana" panose="020B0604030504040204" pitchFamily="34" charset="0"/>
              </a:rPr>
              <a:t>Break and continue also works in the similar way as for loop.</a:t>
            </a:r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CBC407-0A3A-6ED8-F864-964794C7E7B4}"/>
              </a:ext>
            </a:extLst>
          </p:cNvPr>
          <p:cNvSpPr txBox="1"/>
          <p:nvPr/>
        </p:nvSpPr>
        <p:spPr>
          <a:xfrm>
            <a:off x="1084082" y="2687433"/>
            <a:ext cx="5844618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nn-NO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 = </a:t>
            </a:r>
            <a:r>
              <a:rPr lang="nn-NO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br>
              <a:rPr lang="nn-NO" dirty="0"/>
            </a:br>
            <a:r>
              <a:rPr lang="nn-NO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while</a:t>
            </a:r>
            <a:r>
              <a:rPr lang="nn-NO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i &lt; </a:t>
            </a:r>
            <a:r>
              <a:rPr lang="nn-NO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6</a:t>
            </a:r>
            <a:r>
              <a:rPr lang="nn-NO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    #prints from 1 to 5</a:t>
            </a:r>
            <a:br>
              <a:rPr lang="nn-NO" dirty="0"/>
            </a:br>
            <a:r>
              <a:rPr lang="nn-NO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 </a:t>
            </a:r>
            <a:r>
              <a:rPr lang="nn-NO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print</a:t>
            </a:r>
            <a:r>
              <a:rPr lang="nn-NO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(i)</a:t>
            </a:r>
            <a:br>
              <a:rPr lang="nn-NO" dirty="0"/>
            </a:br>
            <a:r>
              <a:rPr lang="nn-NO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 i += </a:t>
            </a:r>
            <a:r>
              <a:rPr lang="nn-NO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56247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743EB-2133-8CA5-BFB8-B250F4448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D13D5-CFB3-8742-77E6-4765CF8C1E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A function is a block of code which only runs when it is called.</a:t>
            </a:r>
          </a:p>
          <a:p>
            <a:pPr algn="l"/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You can pass data, known as parameters, into a function.</a:t>
            </a:r>
          </a:p>
          <a:p>
            <a:pPr algn="l"/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A function can return data as a result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Verdana" panose="020B0604030504040204" pitchFamily="34" charset="0"/>
              </a:rPr>
              <a:t>.</a:t>
            </a:r>
          </a:p>
          <a:p>
            <a:pPr algn="l"/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Verdana" panose="020B0604030504040204" pitchFamily="34" charset="0"/>
              </a:rPr>
              <a:t>Syntax:</a:t>
            </a:r>
          </a:p>
          <a:p>
            <a:pPr marL="0" indent="0" algn="l">
              <a:buNone/>
            </a:pPr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Verdana" panose="020B0604030504040204" pitchFamily="34" charset="0"/>
            </a:endParaRPr>
          </a:p>
          <a:p>
            <a:pPr marL="0" indent="0" algn="l">
              <a:buNone/>
            </a:pPr>
            <a:endParaRPr lang="en-US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Verdana" panose="020B0604030504040204" pitchFamily="34" charset="0"/>
            </a:endParaRPr>
          </a:p>
          <a:p>
            <a:endParaRPr lang="en-US" dirty="0"/>
          </a:p>
        </p:txBody>
      </p:sp>
      <p:pic>
        <p:nvPicPr>
          <p:cNvPr id="2050" name="Picture 2" descr="Lightbox">
            <a:extLst>
              <a:ext uri="{FF2B5EF4-FFF2-40B4-BE49-F238E27FC236}">
                <a16:creationId xmlns:a16="http://schemas.microsoft.com/office/drawing/2014/main" id="{597961F9-0064-AF4A-E547-3DE17932F0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7407" y="3244055"/>
            <a:ext cx="5607770" cy="2540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72970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FB8FF-52EF-2A98-1519-5E283CAEA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and calling a function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9FF1BA-6EAC-4CCB-1E28-DA215E0E2C20}"/>
              </a:ext>
            </a:extLst>
          </p:cNvPr>
          <p:cNvSpPr txBox="1"/>
          <p:nvPr/>
        </p:nvSpPr>
        <p:spPr>
          <a:xfrm>
            <a:off x="999241" y="2183300"/>
            <a:ext cx="4468306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Without parameters/</a:t>
            </a:r>
            <a:r>
              <a:rPr lang="en-US" sz="2400" b="1" dirty="0" err="1"/>
              <a:t>arguemnts</a:t>
            </a:r>
            <a:endParaRPr lang="en-US" sz="2400" b="1" dirty="0"/>
          </a:p>
          <a:p>
            <a:endParaRPr lang="en-US" sz="2400" b="1" i="0" dirty="0">
              <a:solidFill>
                <a:srgbClr val="0000CD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def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my_function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():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print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b="0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"Hello from a function"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br>
              <a:rPr lang="en-US" dirty="0"/>
            </a:br>
            <a:br>
              <a:rPr lang="en-US" dirty="0"/>
            </a:br>
            <a:r>
              <a:rPr lang="en-US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my_function</a:t>
            </a:r>
            <a:r>
              <a:rPr lang="en-US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2B018A-583B-8173-B84E-98F4D939EFB5}"/>
              </a:ext>
            </a:extLst>
          </p:cNvPr>
          <p:cNvSpPr txBox="1"/>
          <p:nvPr/>
        </p:nvSpPr>
        <p:spPr>
          <a:xfrm>
            <a:off x="5779809" y="2204013"/>
            <a:ext cx="5618375" cy="30469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With parameters/</a:t>
            </a:r>
            <a:r>
              <a:rPr lang="en-US" sz="2400" b="1" dirty="0" err="1"/>
              <a:t>arguemnts</a:t>
            </a:r>
            <a:endParaRPr lang="en-US" sz="2400" b="1" dirty="0"/>
          </a:p>
          <a:p>
            <a:endParaRPr lang="en-US" sz="2400" b="1" dirty="0"/>
          </a:p>
          <a:p>
            <a:r>
              <a:rPr lang="en-US" sz="20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def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</a:t>
            </a:r>
            <a:r>
              <a:rPr lang="en-US" sz="2000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my_function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000" b="1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fname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):</a:t>
            </a: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 </a:t>
            </a:r>
            <a:r>
              <a:rPr lang="en-US" sz="20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print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000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fname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+ </a:t>
            </a:r>
            <a:r>
              <a:rPr lang="en-US" sz="2000" b="0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 </a:t>
            </a:r>
            <a:r>
              <a:rPr lang="en-US" sz="2000" b="0" i="0" dirty="0" err="1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Refsnes</a:t>
            </a:r>
            <a:r>
              <a:rPr lang="en-US" sz="2000" b="0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br>
              <a:rPr lang="en-US" sz="2000" dirty="0"/>
            </a:br>
            <a:br>
              <a:rPr lang="en-US" sz="2000" dirty="0"/>
            </a:br>
            <a:r>
              <a:rPr lang="en-US" sz="2000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my_function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000" b="1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"Emil"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br>
              <a:rPr lang="en-US" sz="2000" dirty="0"/>
            </a:br>
            <a:r>
              <a:rPr lang="en-US" sz="2000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my_function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000" b="1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"Tobias"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br>
              <a:rPr lang="en-US" sz="2000" dirty="0"/>
            </a:br>
            <a:r>
              <a:rPr lang="en-US" sz="2000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my_function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000" b="1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"Linus"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en-US" sz="2000" b="1" dirty="0"/>
          </a:p>
          <a:p>
            <a:endParaRPr lang="en-US" sz="2400" b="1" i="0" dirty="0">
              <a:solidFill>
                <a:srgbClr val="0000CD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39BBD4-6496-9632-4367-56316D4F016A}"/>
              </a:ext>
            </a:extLst>
          </p:cNvPr>
          <p:cNvSpPr txBox="1"/>
          <p:nvPr/>
        </p:nvSpPr>
        <p:spPr>
          <a:xfrm>
            <a:off x="3100596" y="5533493"/>
            <a:ext cx="59908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You can use return statement to return a value</a:t>
            </a:r>
          </a:p>
        </p:txBody>
      </p:sp>
    </p:spTree>
    <p:extLst>
      <p:ext uri="{BB962C8B-B14F-4D97-AF65-F5344CB8AC3E}">
        <p14:creationId xmlns:p14="http://schemas.microsoft.com/office/powerpoint/2010/main" val="13958924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2EE48-F9D9-2B33-03FC-D8C6C3C6E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Arbitrary Arguments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BFB41-1B8D-C457-9342-DA7F3357F0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If you do not know how many arguments that will be passed into your function, add a * before the parameter name in the function definition.</a:t>
            </a:r>
          </a:p>
          <a:p>
            <a:r>
              <a:rPr lang="en-US" sz="2000" dirty="0"/>
              <a:t>This way the function will receive a tuple of arguments, and can access the items accordingly.</a:t>
            </a:r>
          </a:p>
          <a:p>
            <a:r>
              <a:rPr lang="en-US" sz="2000" dirty="0"/>
              <a:t>Example: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1825A6-8F54-58B3-1D91-9201003FBFE4}"/>
              </a:ext>
            </a:extLst>
          </p:cNvPr>
          <p:cNvSpPr txBox="1"/>
          <p:nvPr/>
        </p:nvSpPr>
        <p:spPr>
          <a:xfrm>
            <a:off x="1528010" y="3429000"/>
            <a:ext cx="6232358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def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my_function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(*kids):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print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b="0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"The youngest child is "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+ kids[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])</a:t>
            </a:r>
            <a:br>
              <a:rPr lang="en-US" dirty="0"/>
            </a:br>
            <a:br>
              <a:rPr lang="en-US" dirty="0"/>
            </a:br>
            <a:r>
              <a:rPr lang="en-US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my_function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b="0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"Emil"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"Tobias"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"Linus"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1697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D9CF3-F6D5-3B67-A812-6E3ADD87A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Keyword Arguments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327F6-672E-A359-DBBB-F2F7279C1E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You can also send arguments with the </a:t>
            </a:r>
            <a:r>
              <a:rPr lang="en-US" sz="2000" b="0" i="1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key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 = </a:t>
            </a:r>
            <a:r>
              <a:rPr lang="en-US" sz="2000" b="0" i="1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value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 syntax.</a:t>
            </a:r>
          </a:p>
          <a:p>
            <a:pPr algn="l"/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This way the order of the arguments does not matter.</a:t>
            </a:r>
          </a:p>
          <a:p>
            <a:pPr algn="l"/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Verdana" panose="020B0604030504040204" pitchFamily="34" charset="0"/>
              </a:rPr>
              <a:t>Example:</a:t>
            </a:r>
            <a:endParaRPr lang="en-US" sz="20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Verdana" panose="020B0604030504040204" pitchFamily="34" charset="0"/>
            </a:endParaRP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7C3806-273B-B945-7CD9-31C0EE7A0123}"/>
              </a:ext>
            </a:extLst>
          </p:cNvPr>
          <p:cNvSpPr txBox="1"/>
          <p:nvPr/>
        </p:nvSpPr>
        <p:spPr>
          <a:xfrm>
            <a:off x="1652338" y="3088104"/>
            <a:ext cx="9448799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def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</a:t>
            </a:r>
            <a:r>
              <a:rPr lang="en-US" sz="2000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my_function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(child3, child2, child1):</a:t>
            </a: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 </a:t>
            </a:r>
            <a:r>
              <a:rPr lang="en-US" sz="20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print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000" b="0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"The youngest child is "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+ child3)</a:t>
            </a:r>
            <a:br>
              <a:rPr lang="en-US" sz="2000" dirty="0"/>
            </a:br>
            <a:br>
              <a:rPr lang="en-US" sz="2000" dirty="0"/>
            </a:br>
            <a:r>
              <a:rPr lang="en-US" sz="2000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my_function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(child1 = </a:t>
            </a:r>
            <a:r>
              <a:rPr lang="en-US" sz="2000" b="0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"Emil"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child2 = </a:t>
            </a:r>
            <a:r>
              <a:rPr lang="en-US" sz="2000" b="0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"Tobias"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child3 = </a:t>
            </a:r>
            <a:r>
              <a:rPr lang="en-US" sz="2000" b="0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"Linus"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Output: </a:t>
            </a:r>
            <a:r>
              <a:rPr lang="en-US" sz="2000" b="0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The youngest child is Linus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225721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65857-0196-1E03-8419-CF8DA16FB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Default Parameter Value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87038-C07F-F850-4721-50E188FC80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If we call the function without argument, it uses the default value.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Verdana" panose="020B0604030504040204" pitchFamily="34" charset="0"/>
              </a:rPr>
              <a:t>Example: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6370B2-B790-104D-73CE-F1B5DBB9E6AC}"/>
              </a:ext>
            </a:extLst>
          </p:cNvPr>
          <p:cNvSpPr txBox="1"/>
          <p:nvPr/>
        </p:nvSpPr>
        <p:spPr>
          <a:xfrm>
            <a:off x="1917030" y="2831431"/>
            <a:ext cx="7884695" cy="2246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def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</a:t>
            </a:r>
            <a:r>
              <a:rPr lang="en-US" sz="2000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my_function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country = </a:t>
            </a:r>
            <a:r>
              <a:rPr lang="en-US" sz="2000" b="1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"Norway"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):</a:t>
            </a: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 </a:t>
            </a:r>
            <a:r>
              <a:rPr lang="en-US" sz="20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print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000" b="0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"I am from "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+ country)</a:t>
            </a:r>
            <a:br>
              <a:rPr lang="en-US" sz="2000" dirty="0"/>
            </a:br>
            <a:br>
              <a:rPr lang="en-US" sz="2000" dirty="0"/>
            </a:br>
            <a:r>
              <a:rPr lang="en-US" sz="2000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my_function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000" b="0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"Sweden"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br>
              <a:rPr lang="en-US" sz="2000" dirty="0"/>
            </a:br>
            <a:r>
              <a:rPr lang="en-US" sz="2000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my_function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000" b="0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"India"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br>
              <a:rPr lang="en-US" sz="2000" dirty="0"/>
            </a:br>
            <a:r>
              <a:rPr lang="en-US" sz="2000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my_function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  <a:br>
              <a:rPr lang="en-US" sz="2000" dirty="0"/>
            </a:br>
            <a:r>
              <a:rPr lang="en-US" sz="2000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my_function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000" b="0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"Brazil"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411755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0A5EA-2F14-0D51-9F9B-1E66C251A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Passing List as an argument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E9B2C-A872-ED2D-EBEF-EC9953705E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6198"/>
            <a:ext cx="10515600" cy="4351338"/>
          </a:xfrm>
        </p:spPr>
        <p:txBody>
          <a:bodyPr>
            <a:normAutofit/>
          </a:bodyPr>
          <a:lstStyle/>
          <a:p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You can send any data types of argument to a function (string, number, list, dictionary etc.), and it will be treated as the same data type inside the function.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Verdana" panose="020B0604030504040204" pitchFamily="34" charset="0"/>
              </a:rPr>
              <a:t>Example:</a:t>
            </a:r>
          </a:p>
          <a:p>
            <a:endParaRPr lang="en-US" sz="20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Verdan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111AAD-B1CC-00D2-A16F-3F4BCFB2A0B5}"/>
              </a:ext>
            </a:extLst>
          </p:cNvPr>
          <p:cNvSpPr txBox="1"/>
          <p:nvPr/>
        </p:nvSpPr>
        <p:spPr>
          <a:xfrm>
            <a:off x="2863516" y="3220452"/>
            <a:ext cx="6200274" cy="2246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def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</a:t>
            </a:r>
            <a:r>
              <a:rPr lang="en-US" sz="2000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my_function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(food):</a:t>
            </a: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 </a:t>
            </a:r>
            <a:r>
              <a:rPr lang="en-US" sz="20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x </a:t>
            </a:r>
            <a:r>
              <a:rPr lang="en-US" sz="20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food:</a:t>
            </a: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   </a:t>
            </a:r>
            <a:r>
              <a:rPr lang="en-US" sz="20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print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(x)</a:t>
            </a:r>
            <a:br>
              <a:rPr lang="en-US" sz="2000" dirty="0"/>
            </a:b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fruits = [</a:t>
            </a:r>
            <a:r>
              <a:rPr lang="en-US" sz="2000" b="0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"apple"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 </a:t>
            </a:r>
            <a:r>
              <a:rPr lang="en-US" sz="2000" b="0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"banana"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 </a:t>
            </a:r>
            <a:r>
              <a:rPr lang="en-US" sz="2000" b="0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"cherry"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br>
              <a:rPr lang="en-US" sz="2000" dirty="0"/>
            </a:br>
            <a:br>
              <a:rPr lang="en-US" sz="2000" dirty="0"/>
            </a:br>
            <a:r>
              <a:rPr lang="en-US" sz="2000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my_function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(fruits)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740338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B316C-788F-DBED-E9C0-409EF208D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F4018-ED57-387D-E60A-10D85B651C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Python also accepts function recursion, which means a defined function can call itself.</a:t>
            </a:r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DD6B28-83C2-D1F0-180B-664338AEDB25}"/>
              </a:ext>
            </a:extLst>
          </p:cNvPr>
          <p:cNvSpPr txBox="1"/>
          <p:nvPr/>
        </p:nvSpPr>
        <p:spPr>
          <a:xfrm>
            <a:off x="1517714" y="2601662"/>
            <a:ext cx="9836085" cy="37856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def </a:t>
            </a:r>
            <a:r>
              <a:rPr lang="en-US" sz="2000" dirty="0" err="1"/>
              <a:t>fibonacci</a:t>
            </a:r>
            <a:r>
              <a:rPr lang="en-US" sz="2000" dirty="0"/>
              <a:t>(n):</a:t>
            </a:r>
          </a:p>
          <a:p>
            <a:r>
              <a:rPr lang="en-US" sz="2000" dirty="0"/>
              <a:t>    if n == 1:</a:t>
            </a:r>
          </a:p>
          <a:p>
            <a:r>
              <a:rPr lang="en-US" sz="2000" dirty="0"/>
              <a:t>        return 0</a:t>
            </a:r>
          </a:p>
          <a:p>
            <a:r>
              <a:rPr lang="en-US" sz="2000" dirty="0"/>
              <a:t>    </a:t>
            </a:r>
            <a:r>
              <a:rPr lang="en-US" sz="2000" dirty="0" err="1"/>
              <a:t>elif</a:t>
            </a:r>
            <a:r>
              <a:rPr lang="en-US" sz="2000" dirty="0"/>
              <a:t> n == 2:</a:t>
            </a:r>
          </a:p>
          <a:p>
            <a:r>
              <a:rPr lang="en-US" sz="2000" dirty="0"/>
              <a:t>        return 1</a:t>
            </a:r>
          </a:p>
          <a:p>
            <a:r>
              <a:rPr lang="en-US" sz="2000" dirty="0"/>
              <a:t>    else:</a:t>
            </a:r>
          </a:p>
          <a:p>
            <a:r>
              <a:rPr lang="en-US" sz="2000" dirty="0"/>
              <a:t>        return </a:t>
            </a:r>
            <a:r>
              <a:rPr lang="en-US" sz="2000" dirty="0" err="1"/>
              <a:t>fibonacci</a:t>
            </a:r>
            <a:r>
              <a:rPr lang="en-US" sz="2000" dirty="0"/>
              <a:t>(n - 1) + </a:t>
            </a:r>
            <a:r>
              <a:rPr lang="en-US" sz="2000" dirty="0" err="1"/>
              <a:t>fibonacci</a:t>
            </a:r>
            <a:r>
              <a:rPr lang="en-US" sz="2000" dirty="0"/>
              <a:t>(n - 2)</a:t>
            </a:r>
          </a:p>
          <a:p>
            <a:endParaRPr lang="en-US" sz="2000" dirty="0"/>
          </a:p>
          <a:p>
            <a:r>
              <a:rPr lang="en-US" sz="2000" dirty="0"/>
              <a:t>n = 10                                                                                            # Get the first 10 Fibonacci numbers</a:t>
            </a:r>
          </a:p>
          <a:p>
            <a:r>
              <a:rPr lang="en-US" sz="2000" dirty="0" err="1"/>
              <a:t>fibonacci_sequence</a:t>
            </a:r>
            <a:r>
              <a:rPr lang="en-US" sz="2000" dirty="0"/>
              <a:t> = [</a:t>
            </a:r>
            <a:r>
              <a:rPr lang="en-US" sz="2000" dirty="0" err="1"/>
              <a:t>fibonacci</a:t>
            </a:r>
            <a:r>
              <a:rPr lang="en-US" sz="2000" dirty="0"/>
              <a:t>(</a:t>
            </a:r>
            <a:r>
              <a:rPr lang="en-US" sz="2000" dirty="0" err="1"/>
              <a:t>i</a:t>
            </a:r>
            <a:r>
              <a:rPr lang="en-US" sz="2000" dirty="0"/>
              <a:t>) for </a:t>
            </a:r>
            <a:r>
              <a:rPr lang="en-US" sz="2000" dirty="0" err="1"/>
              <a:t>i</a:t>
            </a:r>
            <a:r>
              <a:rPr lang="en-US" sz="2000" dirty="0"/>
              <a:t> in range(1, n + 1)]</a:t>
            </a:r>
          </a:p>
          <a:p>
            <a:r>
              <a:rPr lang="en-US" sz="2000" dirty="0"/>
              <a:t>print(</a:t>
            </a:r>
            <a:r>
              <a:rPr lang="en-US" sz="2000" dirty="0" err="1"/>
              <a:t>f"First</a:t>
            </a:r>
            <a:r>
              <a:rPr lang="en-US" sz="2000" dirty="0"/>
              <a:t> {n} Fibonacci numbers: {</a:t>
            </a:r>
            <a:r>
              <a:rPr lang="en-US" sz="2000" dirty="0" err="1"/>
              <a:t>fibonacci_sequence</a:t>
            </a:r>
            <a:r>
              <a:rPr lang="en-US" sz="2000" dirty="0"/>
              <a:t>}")</a:t>
            </a:r>
          </a:p>
          <a:p>
            <a:r>
              <a:rPr lang="en-US" sz="2000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173036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1138</Words>
  <Application>Microsoft Office PowerPoint</Application>
  <PresentationFormat>Widescreen</PresentationFormat>
  <Paragraphs>102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Consolas</vt:lpstr>
      <vt:lpstr>Segoe UI</vt:lpstr>
      <vt:lpstr>Verdana</vt:lpstr>
      <vt:lpstr>Office Theme</vt:lpstr>
      <vt:lpstr>Conditions, Loops and Functions</vt:lpstr>
      <vt:lpstr>Conditions</vt:lpstr>
      <vt:lpstr>Conditions (If…elif…else)</vt:lpstr>
      <vt:lpstr>Conditions (Nested If)</vt:lpstr>
      <vt:lpstr>for Loops</vt:lpstr>
      <vt:lpstr>for Loops (break &amp; continue Statement)</vt:lpstr>
      <vt:lpstr>for Loop (range Function)</vt:lpstr>
      <vt:lpstr>Nested for Loop</vt:lpstr>
      <vt:lpstr>While loop</vt:lpstr>
      <vt:lpstr>Functions</vt:lpstr>
      <vt:lpstr>Creating and calling a function</vt:lpstr>
      <vt:lpstr>Arbitrary Arguments</vt:lpstr>
      <vt:lpstr>Keyword Arguments</vt:lpstr>
      <vt:lpstr>Default Parameter Value</vt:lpstr>
      <vt:lpstr>Passing List as an argument</vt:lpstr>
      <vt:lpstr>Recursion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Conditions, Loops and Functions</dc:title>
  <dc:creator>Mazharul Islam Tusher</dc:creator>
  <cp:lastModifiedBy>Mazharul Islam Tusher</cp:lastModifiedBy>
  <cp:revision>4</cp:revision>
  <dcterms:created xsi:type="dcterms:W3CDTF">2024-05-24T07:46:26Z</dcterms:created>
  <dcterms:modified xsi:type="dcterms:W3CDTF">2024-05-24T11:27:23Z</dcterms:modified>
</cp:coreProperties>
</file>