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2"/>
  </p:notesMasterIdLst>
  <p:sldIdLst>
    <p:sldId id="326" r:id="rId2"/>
    <p:sldId id="364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65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66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  <p:sldId id="361" r:id="rId39"/>
    <p:sldId id="362" r:id="rId40"/>
    <p:sldId id="363" r:id="rId41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49">
          <p15:clr>
            <a:srgbClr val="A4A3A4"/>
          </p15:clr>
        </p15:guide>
        <p15:guide id="2" pos="33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838" y="67"/>
      </p:cViewPr>
      <p:guideLst>
        <p:guide orient="horz" pos="1749"/>
        <p:guide pos="33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5895" cy="758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2F371CA-34EF-8940-3AA9-7D785BBCA2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79C55758-9E92-EBB4-640E-410E5666B3B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9A1FFFE-D5DF-63E6-F8A3-889917F9A18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107C3929-5F03-0873-5C1A-9FF1C0E54D6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88070" name="Rectangle 6">
            <a:extLst>
              <a:ext uri="{FF2B5EF4-FFF2-40B4-BE49-F238E27FC236}">
                <a16:creationId xmlns:a16="http://schemas.microsoft.com/office/drawing/2014/main" id="{1A0C1410-82D8-86AF-A3C0-A9E70885D7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8071" name="Rectangle 7">
            <a:extLst>
              <a:ext uri="{FF2B5EF4-FFF2-40B4-BE49-F238E27FC236}">
                <a16:creationId xmlns:a16="http://schemas.microsoft.com/office/drawing/2014/main" id="{225260CC-4F0C-33DE-75E3-918659B63F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82F94B0-0FFE-4413-88F3-0D222DB3C2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DCB56ED2-4A32-441A-AEB7-A7B4CDB36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73296-F5EF-4CDE-B13B-B0F3BA4F5714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9" name="Rectangle 7">
            <a:extLst>
              <a:ext uri="{FF2B5EF4-FFF2-40B4-BE49-F238E27FC236}">
                <a16:creationId xmlns:a16="http://schemas.microsoft.com/office/drawing/2014/main" id="{7E182650-F507-EF3D-9261-E48C6F76567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4D236BB3-11C3-43A0-B638-B81D3D40A634}" type="slidenum">
              <a:rPr lang="en-US" altLang="en-US" sz="1200"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/>
              <a:t>1</a:t>
            </a:fld>
            <a:endParaRPr lang="en-US" altLang="en-US" sz="12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00" name="Rectangle 7">
            <a:extLst>
              <a:ext uri="{FF2B5EF4-FFF2-40B4-BE49-F238E27FC236}">
                <a16:creationId xmlns:a16="http://schemas.microsoft.com/office/drawing/2014/main" id="{6105E1D7-13EA-A8BE-C2C4-725EB413A3E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B84EAD-2060-42FB-A489-498E1F3B9856}" type="slidenum">
              <a:rPr lang="en-US" altLang="en-US"/>
              <a:pPr algn="r"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047DCDB7-2F42-EA0E-34FB-0581219EE0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2" name="Rectangle 3">
            <a:extLst>
              <a:ext uri="{FF2B5EF4-FFF2-40B4-BE49-F238E27FC236}">
                <a16:creationId xmlns:a16="http://schemas.microsoft.com/office/drawing/2014/main" id="{95597028-3D56-950D-4231-833048FC5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C1F94-AE92-86F1-DF6B-28669CC6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2B98B-D2D0-AC36-188E-ABF4D8EA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0B0EA-1348-0558-8743-4DC67014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0C095-2EB5-4667-90E5-48F0361282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429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ACBA8-297A-B194-F613-F53FE17D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97DF9-1210-204C-7FEC-86E57176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7282B-CB25-C671-1237-712A642A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511EE-9F4D-4CC1-B8A4-816B5F08CD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517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D1430-7C06-4587-CD71-FC717D1DB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E7851-4165-359B-D8D6-6BFEE240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E437A-FCD9-4C44-EDCA-1BE0A41C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2B9308-E64D-4BC6-95ED-2333FEB1AD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833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D1EE071-AC98-08CA-CBA9-A0AA7C76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8E3AF8-6B36-E9ED-B545-3AA512F2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263DE2-B01C-64F7-4B2F-222FA37D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0CF09-7A73-4995-B756-032405374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80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C22D660-4BC9-DB02-357B-A8363EC6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9A7FFB0-1ADA-6987-6B28-E9244D01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C422D03-AE33-D62E-009D-DD93F17B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23FC7-407E-4D88-9648-0AD4EA1D20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017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0656D12-30D0-98B2-7191-665A28DF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8596D46-3716-4DAC-6A0B-89CF6743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C95BD1A-06BE-1C57-8E25-30D05021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34C85-95AB-465B-A2FF-59278545EF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30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5C7BB75-9924-DB56-8009-FF1C9551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C01096-1C37-E5FF-7C97-1DB268418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265444-EF57-7713-FD1E-DE98654E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3F7BE-91D2-44B6-8A0A-48628965F9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124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650AB68-0FD2-9F7D-93CB-D4E24A3F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D766CB0-3C03-02AC-B6F8-F4C0B367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D3DADB-6633-1A5B-9584-4F882117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28ACD-461F-4EBF-859F-F4D1938F6A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06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29A2B17-EECC-44E9-6522-0F1445CFB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60CC69-AC1A-91DC-C8D6-3854C579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ECC90E-11E8-BF07-E0B9-16190AD7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46EF2-8B77-41F0-A308-AAE037BC41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250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15037-4D80-BC97-8894-ED74EA92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8999F-07B3-51CC-836A-6F2CA4AA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6AEC-2AB1-EB04-0E7B-F1A03351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8EA2D-E2E3-4430-A77C-ADD7A8FF5A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103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02C5-C35D-8280-BE9F-B4DD1AF8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B106D-D027-9205-6453-A921E192B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47E74-B091-5899-3158-A0678DA5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18B8B-EAF2-4966-A09F-C90649C0A9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701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107687-7070-23E8-CC7E-9CBCB13CB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EF75946-8125-D8C8-9252-7FFE65CD0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F7156-A826-61A2-996D-0C5C68154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37C92-06B9-BA65-B6E9-3EA6568B7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AA191-89FD-7A0D-9DC2-FD082B41F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537F78E-33CD-4C87-9ED2-9726213CA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E64B91D-087F-08BD-ADB8-DCAE4F0C32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8150" y="1203325"/>
            <a:ext cx="8705850" cy="3146425"/>
          </a:xfrm>
          <a:solidFill>
            <a:schemeClr val="hlink"/>
          </a:solidFill>
        </p:spPr>
        <p:txBody>
          <a:bodyPr/>
          <a:lstStyle/>
          <a:p>
            <a:pPr eaLnBrk="1" hangingPunct="1"/>
            <a:r>
              <a:rPr lang="en-US" altLang="en-US" sz="4800"/>
              <a:t>TUPLES, SETS</a:t>
            </a:r>
            <a:br>
              <a:rPr lang="en-US" altLang="en-US" sz="4800"/>
            </a:br>
            <a:r>
              <a:rPr lang="en-US" altLang="en-US" sz="4800"/>
              <a:t>AND DICTIONARIES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D4EE5A7F-4C61-68D7-CD43-F441E267652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TUPLES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B9FF15A-882A-2B70-A9F5-157403BBEF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Tuples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1AAAAF5-B95B-FDB2-3F2C-C7EACD91B8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Same as lists but</a:t>
            </a:r>
          </a:p>
          <a:p>
            <a:pPr lvl="1" eaLnBrk="1" hangingPunct="1"/>
            <a:r>
              <a:rPr lang="en-US" altLang="en-US"/>
              <a:t>Immutable</a:t>
            </a:r>
          </a:p>
          <a:p>
            <a:pPr lvl="1" eaLnBrk="1" hangingPunct="1"/>
            <a:r>
              <a:rPr lang="en-US" altLang="en-US"/>
              <a:t>Enclosed in parentheses</a:t>
            </a:r>
          </a:p>
          <a:p>
            <a:pPr lvl="1" eaLnBrk="1" hangingPunct="1"/>
            <a:r>
              <a:rPr lang="en-US" altLang="en-US"/>
              <a:t>A tuple  with a single element </a:t>
            </a:r>
            <a:r>
              <a:rPr lang="en-US" altLang="en-US" b="1" i="1"/>
              <a:t>must</a:t>
            </a:r>
            <a:r>
              <a:rPr lang="en-US" altLang="en-US"/>
              <a:t> have a comma inside the parentheses:</a:t>
            </a:r>
          </a:p>
          <a:p>
            <a:pPr lvl="2" eaLnBrk="1" hangingPunct="1"/>
            <a:r>
              <a:rPr lang="en-US" altLang="en-US" b="1"/>
              <a:t>a = (11,)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DAF9EC7-A3AB-D44A-2255-4B9EE9EE038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Examples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34DF563-23DA-F2C0-7209-5727E55E37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fr-FR" altLang="en-US" b="1"/>
              <a:t>&gt;&gt;&gt; mytuple = (11, 22, 33)</a:t>
            </a:r>
          </a:p>
          <a:p>
            <a:pPr eaLnBrk="1" hangingPunct="1"/>
            <a:r>
              <a:rPr lang="fr-FR" altLang="en-US" b="1"/>
              <a:t>&gt;&gt;&gt; mytuple[0]</a:t>
            </a:r>
            <a:br>
              <a:rPr lang="fr-FR" altLang="en-US" b="1"/>
            </a:br>
            <a:r>
              <a:rPr lang="fr-FR" altLang="en-US" b="1"/>
              <a:t>11</a:t>
            </a:r>
          </a:p>
          <a:p>
            <a:pPr eaLnBrk="1" hangingPunct="1"/>
            <a:r>
              <a:rPr lang="fr-FR" altLang="en-US" b="1"/>
              <a:t>&gt;&gt;&gt; mytuple[-1]</a:t>
            </a:r>
            <a:br>
              <a:rPr lang="fr-FR" altLang="en-US" b="1"/>
            </a:br>
            <a:r>
              <a:rPr lang="fr-FR" altLang="en-US" b="1"/>
              <a:t>33</a:t>
            </a:r>
          </a:p>
          <a:p>
            <a:pPr eaLnBrk="1" hangingPunct="1"/>
            <a:r>
              <a:rPr lang="fr-FR" altLang="en-US" b="1"/>
              <a:t>&gt;&gt;&gt; mytuple[0:1]</a:t>
            </a:r>
            <a:br>
              <a:rPr lang="fr-FR" altLang="en-US" b="1"/>
            </a:br>
            <a:r>
              <a:rPr lang="fr-FR" altLang="en-US" b="1"/>
              <a:t>(11,)</a:t>
            </a:r>
          </a:p>
          <a:p>
            <a:pPr eaLnBrk="1" hangingPunct="1"/>
            <a:r>
              <a:rPr lang="fr-FR" altLang="en-US" b="1"/>
              <a:t>The comma is required!</a:t>
            </a:r>
            <a:endParaRPr lang="en-US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9FFB0AB-1A9D-A6D9-2B31-9D2DEDE3EF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Why?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9628BC1-F0B6-4198-AC27-8D17B39157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No confusion possible between</a:t>
            </a:r>
            <a:r>
              <a:rPr lang="en-US" altLang="en-US" b="1"/>
              <a:t> [11] </a:t>
            </a:r>
            <a:r>
              <a:rPr lang="en-US" altLang="en-US"/>
              <a:t>and </a:t>
            </a:r>
            <a:r>
              <a:rPr lang="en-US" altLang="en-US" b="1"/>
              <a:t>11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 b="1"/>
              <a:t>(11)</a:t>
            </a:r>
            <a:r>
              <a:rPr lang="en-US" altLang="en-US"/>
              <a:t> is a perfectly acceptable expression</a:t>
            </a:r>
          </a:p>
          <a:p>
            <a:pPr lvl="1" eaLnBrk="1" hangingPunct="1"/>
            <a:r>
              <a:rPr lang="en-US" altLang="en-US" b="1"/>
              <a:t>(11) without the comma </a:t>
            </a:r>
            <a:r>
              <a:rPr lang="en-US" altLang="en-US"/>
              <a:t>is the integer 11</a:t>
            </a:r>
          </a:p>
          <a:p>
            <a:pPr lvl="1" eaLnBrk="1" hangingPunct="1"/>
            <a:r>
              <a:rPr lang="en-US" altLang="en-US" b="1"/>
              <a:t>(11, ) with the comma </a:t>
            </a:r>
            <a:r>
              <a:rPr lang="en-US" altLang="en-US"/>
              <a:t>is  a list containing the integer 11</a:t>
            </a:r>
          </a:p>
          <a:p>
            <a:pPr eaLnBrk="1" hangingPunct="1"/>
            <a:r>
              <a:rPr lang="en-US" altLang="en-US"/>
              <a:t>Sole dirty trick played on us by tuples!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120E041-5947-B8B2-193A-CDC1177AB9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Tuples are immutable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B6E892B-C9C6-9DE8-3115-0F5D8785AC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mytuple = (11, 22, 33)</a:t>
            </a:r>
          </a:p>
          <a:p>
            <a:pPr eaLnBrk="1" hangingPunct="1"/>
            <a:r>
              <a:rPr lang="en-US" altLang="en-US" b="1"/>
              <a:t>&gt;&gt;&gt; saved = mytuple</a:t>
            </a:r>
          </a:p>
          <a:p>
            <a:pPr eaLnBrk="1" hangingPunct="1"/>
            <a:r>
              <a:rPr lang="en-US" altLang="en-US" b="1"/>
              <a:t>&gt;&gt;&gt; mytuple += (44,)</a:t>
            </a:r>
          </a:p>
          <a:p>
            <a:pPr eaLnBrk="1" hangingPunct="1"/>
            <a:r>
              <a:rPr lang="en-US" altLang="en-US" b="1"/>
              <a:t>&gt;&gt;&gt; mytuple</a:t>
            </a:r>
            <a:br>
              <a:rPr lang="en-US" altLang="en-US" b="1"/>
            </a:br>
            <a:r>
              <a:rPr lang="en-US" altLang="en-US" b="1"/>
              <a:t>(11, 22, 33, 44)</a:t>
            </a:r>
          </a:p>
          <a:p>
            <a:pPr eaLnBrk="1" hangingPunct="1"/>
            <a:r>
              <a:rPr lang="en-US" altLang="en-US" b="1"/>
              <a:t>&gt;&gt;&gt; saved</a:t>
            </a:r>
            <a:br>
              <a:rPr lang="en-US" altLang="en-US" b="1"/>
            </a:br>
            <a:r>
              <a:rPr lang="en-US" altLang="en-US" b="1"/>
              <a:t>(11, 22, 33)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54F0421-D175-A02F-FEE9-FEE909EC40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Things that do not work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935FFE6-CE28-4424-288A-1B5FB53A08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55663" y="1981200"/>
            <a:ext cx="8288337" cy="4114800"/>
          </a:xfrm>
        </p:spPr>
        <p:txBody>
          <a:bodyPr/>
          <a:lstStyle/>
          <a:p>
            <a:pPr eaLnBrk="1" hangingPunct="1"/>
            <a:r>
              <a:rPr lang="en-US" altLang="en-US"/>
              <a:t> </a:t>
            </a:r>
            <a:r>
              <a:rPr lang="en-US" altLang="en-US" b="1"/>
              <a:t>mytuple += 55</a:t>
            </a:r>
            <a:br>
              <a:rPr lang="en-US" altLang="en-US" b="1"/>
            </a:br>
            <a:r>
              <a:rPr lang="en-US" altLang="en-US" b="1"/>
              <a:t>Traceback (most recent call last):Z</a:t>
            </a:r>
            <a:br>
              <a:rPr lang="en-US" altLang="en-US" b="1"/>
            </a:br>
            <a:r>
              <a:rPr lang="en-US" altLang="en-US" b="1"/>
              <a:t>…</a:t>
            </a:r>
            <a:br>
              <a:rPr lang="en-US" altLang="en-US" b="1"/>
            </a:br>
            <a:r>
              <a:rPr lang="en-US" altLang="en-US" b="1"/>
              <a:t>TypeError:</a:t>
            </a:r>
            <a:br>
              <a:rPr lang="en-US" altLang="en-US" b="1"/>
            </a:br>
            <a:r>
              <a:rPr lang="en-US" altLang="en-US" b="1"/>
              <a:t> can only concatenate tuple (not "int") to tuple</a:t>
            </a:r>
          </a:p>
          <a:p>
            <a:pPr lvl="1" eaLnBrk="1" hangingPunct="1"/>
            <a:r>
              <a:rPr lang="en-US" altLang="en-US"/>
              <a:t>Can understand that!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F56C9FE-8A4E-E97C-F20E-4DEED443847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Sorting tuples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BD3C188-5869-9088-7F89-23BE05FB8A9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b="1"/>
              <a:t>&gt;&gt;&gt; atuple = (33, 22, 11)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b="1"/>
              <a:t>&gt;&gt;&gt; atuple.sort()</a:t>
            </a:r>
            <a:br>
              <a:rPr lang="en-US" altLang="en-US" b="1"/>
            </a:br>
            <a:r>
              <a:rPr lang="en-US" altLang="en-US" b="1"/>
              <a:t>Traceback (most recent call last):</a:t>
            </a:r>
            <a:br>
              <a:rPr lang="en-US" altLang="en-US" b="1"/>
            </a:br>
            <a:r>
              <a:rPr lang="en-US" altLang="en-US" b="1"/>
              <a:t>…</a:t>
            </a:r>
            <a:br>
              <a:rPr lang="en-US" altLang="en-US" b="1"/>
            </a:br>
            <a:r>
              <a:rPr lang="en-US" altLang="en-US" b="1"/>
              <a:t>AttributeError:</a:t>
            </a:r>
            <a:br>
              <a:rPr lang="en-US" altLang="en-US" b="1"/>
            </a:br>
            <a:r>
              <a:rPr lang="en-US" altLang="en-US" b="1"/>
              <a:t>'tuple' object has no attribute 'sort'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b="1"/>
              <a:t>&gt;&gt;&gt; atuple = sorted(atuple)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b="1"/>
              <a:t>&gt;&gt;&gt; atuple</a:t>
            </a:r>
            <a:br>
              <a:rPr lang="en-US" altLang="en-US" b="1"/>
            </a:br>
            <a:r>
              <a:rPr lang="en-US" altLang="en-US" b="1"/>
              <a:t>[11, 22, 33]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E23A1DBE-C114-27CA-5E1C-9B7C01916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7734" y="3290094"/>
            <a:ext cx="3740150" cy="598488"/>
          </a:xfrm>
          <a:prstGeom prst="rect">
            <a:avLst/>
          </a:prstGeom>
          <a:solidFill>
            <a:srgbClr val="FF0000"/>
          </a:solidFill>
          <a:ln w="1905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latin typeface="Arial Narrow" panose="020B0606020202030204" pitchFamily="34" charset="0"/>
                <a:cs typeface="Arial" panose="020B0604020202020204" pitchFamily="34" charset="0"/>
              </a:rPr>
              <a:t>Tuples are immutable!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9C329554-4E3F-B6C4-7BCD-8A4C7FF06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350" y="5795963"/>
            <a:ext cx="3832225" cy="598487"/>
          </a:xfrm>
          <a:prstGeom prst="rect">
            <a:avLst/>
          </a:prstGeom>
          <a:solidFill>
            <a:schemeClr val="accent1"/>
          </a:solidFill>
          <a:ln w="1905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latin typeface="Arial Narrow" panose="020B0606020202030204" pitchFamily="34" charset="0"/>
                <a:cs typeface="Arial" panose="020B0604020202020204" pitchFamily="34" charset="0"/>
              </a:rPr>
              <a:t>sorted( )  returns a list!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0737B8A-A4A0-F168-D308-7D4B30F67A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Most other things work!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513C451-276B-F809-F1B0-30E705B29D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atuple = (11, 22, 33)</a:t>
            </a:r>
          </a:p>
          <a:p>
            <a:pPr eaLnBrk="1" hangingPunct="1"/>
            <a:r>
              <a:rPr lang="en-US" altLang="en-US" b="1"/>
              <a:t>&gt;&gt;&gt; len(atuple)</a:t>
            </a:r>
            <a:br>
              <a:rPr lang="en-US" altLang="en-US" b="1"/>
            </a:br>
            <a:r>
              <a:rPr lang="en-US" altLang="en-US" b="1"/>
              <a:t>3</a:t>
            </a:r>
          </a:p>
          <a:p>
            <a:pPr eaLnBrk="1" hangingPunct="1"/>
            <a:r>
              <a:rPr lang="en-US" altLang="en-US" b="1"/>
              <a:t>&gt;&gt;&gt; 44 in atuple</a:t>
            </a:r>
            <a:br>
              <a:rPr lang="en-US" altLang="en-US" b="1"/>
            </a:br>
            <a:r>
              <a:rPr lang="en-US" altLang="en-US" b="1"/>
              <a:t>False</a:t>
            </a:r>
          </a:p>
          <a:p>
            <a:pPr eaLnBrk="1" hangingPunct="1"/>
            <a:r>
              <a:rPr lang="en-US" altLang="en-US" b="1"/>
              <a:t>&gt;&gt;&gt; [ i for [i for i in atuple]</a:t>
            </a:r>
            <a:br>
              <a:rPr lang="en-US" altLang="en-US" b="1"/>
            </a:br>
            <a:r>
              <a:rPr lang="en-US" altLang="en-US" b="1"/>
              <a:t>[11, 22, 33]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CA954EE-4817-8E17-5115-D942714D4E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reverse does not work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2284A53-939A-A35C-2BDA-1FA13A16AA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alist = [11, 22, 33]</a:t>
            </a:r>
          </a:p>
          <a:p>
            <a:pPr eaLnBrk="1" hangingPunct="1"/>
            <a:r>
              <a:rPr lang="en-US" altLang="en-US" b="1"/>
              <a:t>&gt;&gt;&gt; (i for i in alist)</a:t>
            </a:r>
            <a:br>
              <a:rPr lang="en-US" altLang="en-US" b="1"/>
            </a:br>
            <a:r>
              <a:rPr lang="en-US" altLang="en-US" b="1"/>
              <a:t>&lt;generator object &lt;genexpr&gt; at 0x02855DA0&gt;</a:t>
            </a:r>
          </a:p>
          <a:p>
            <a:pPr lvl="1" eaLnBrk="1" hangingPunct="1"/>
            <a:r>
              <a:rPr lang="en-US" altLang="en-US" b="1" i="1"/>
              <a:t>Does not work!</a:t>
            </a:r>
            <a:r>
              <a:rPr lang="en-US" altLang="en-US" b="1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EB9BCDF-B130-300A-44F4-A5116E50FF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Converting sequences into tuples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BBA4FDF-07DE-8265-3413-A9E4EC54A0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alist = [11, 22, 33]</a:t>
            </a:r>
          </a:p>
          <a:p>
            <a:pPr eaLnBrk="1" hangingPunct="1"/>
            <a:r>
              <a:rPr lang="en-US" altLang="en-US" b="1"/>
              <a:t>&gt;&gt;&gt; atuple = tuple(alist)</a:t>
            </a:r>
          </a:p>
          <a:p>
            <a:pPr eaLnBrk="1" hangingPunct="1"/>
            <a:r>
              <a:rPr lang="en-US" altLang="en-US" b="1"/>
              <a:t>&gt;&gt;&gt; atuple</a:t>
            </a:r>
            <a:br>
              <a:rPr lang="en-US" altLang="en-US" b="1"/>
            </a:br>
            <a:r>
              <a:rPr lang="en-US" altLang="en-US" b="1"/>
              <a:t>(11, 22, 33)</a:t>
            </a:r>
          </a:p>
          <a:p>
            <a:pPr eaLnBrk="1" hangingPunct="1"/>
            <a:r>
              <a:rPr lang="en-US" altLang="en-US" b="1"/>
              <a:t>&gt;&gt;&gt; newtuple = tuple('Hello World!')</a:t>
            </a:r>
          </a:p>
          <a:p>
            <a:pPr eaLnBrk="1" hangingPunct="1"/>
            <a:r>
              <a:rPr lang="en-US" altLang="en-US" b="1"/>
              <a:t>&gt;&gt;&gt; newtuple</a:t>
            </a:r>
            <a:br>
              <a:rPr lang="en-US" altLang="en-US" b="1"/>
            </a:br>
            <a:r>
              <a:rPr lang="en-US" altLang="en-US" b="1"/>
              <a:t>('H', 'e', 'l', 'l', 'o', ' ', 'W', 'o', 'r', 'l', 'd', '!')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C6DB7B5A-4EB5-6952-C05A-A32FC76C59E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F597F2B-92DD-0764-3799-96EFFE4A60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Sets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AB7423C-6B4D-FA3F-0103-47419BF19B6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Indentified by </a:t>
            </a:r>
            <a:r>
              <a:rPr lang="en-US" altLang="en-US" b="1" i="1"/>
              <a:t>curly braces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 b="1"/>
              <a:t>{'Alice', 'Bob', 'Carol'}</a:t>
            </a:r>
          </a:p>
          <a:p>
            <a:pPr lvl="1" eaLnBrk="1" hangingPunct="1"/>
            <a:r>
              <a:rPr lang="en-US" altLang="en-US" b="1"/>
              <a:t>{'Dean'} </a:t>
            </a:r>
            <a:r>
              <a:rPr lang="en-US" altLang="en-US"/>
              <a:t>is a </a:t>
            </a:r>
            <a:r>
              <a:rPr lang="en-US" altLang="en-US" b="1" i="1"/>
              <a:t>singleton</a:t>
            </a:r>
          </a:p>
          <a:p>
            <a:pPr eaLnBrk="1" hangingPunct="1"/>
            <a:r>
              <a:rPr lang="en-US" altLang="en-US"/>
              <a:t>Can only contain </a:t>
            </a:r>
            <a:r>
              <a:rPr lang="en-US" altLang="en-US" b="1" i="1"/>
              <a:t>unique elements</a:t>
            </a:r>
          </a:p>
          <a:p>
            <a:pPr lvl="1" eaLnBrk="1" hangingPunct="1"/>
            <a:r>
              <a:rPr lang="en-US" altLang="en-US" b="1" i="1"/>
              <a:t>Duplicates are eliminated</a:t>
            </a:r>
          </a:p>
          <a:p>
            <a:pPr eaLnBrk="1" hangingPunct="1"/>
            <a:r>
              <a:rPr lang="en-US" altLang="en-US" b="1" i="1"/>
              <a:t>Immutable</a:t>
            </a:r>
            <a:r>
              <a:rPr lang="en-US" altLang="en-US"/>
              <a:t> like tuples and strings</a:t>
            </a:r>
          </a:p>
          <a:p>
            <a:pPr lvl="1" eaLnBrk="1" hangingPunct="1">
              <a:buFontTx/>
              <a:buNone/>
            </a:pPr>
            <a:endParaRPr lang="en-US" altLang="en-US" b="1" i="1"/>
          </a:p>
          <a:p>
            <a:pPr lvl="1" eaLnBrk="1" hangingPunct="1"/>
            <a:endParaRPr lang="en-US" altLang="en-US" b="1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45769FF-17DB-16D4-834C-91006AEECB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Sets do not contain duplicates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4357484-D63F-70AA-5B83-7F68CFDEA7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cset = {11, 11, 22}</a:t>
            </a:r>
          </a:p>
          <a:p>
            <a:pPr eaLnBrk="1" hangingPunct="1"/>
            <a:r>
              <a:rPr lang="en-US" altLang="en-US" b="1"/>
              <a:t>&gt;&gt;&gt; cset</a:t>
            </a:r>
            <a:br>
              <a:rPr lang="en-US" altLang="en-US" b="1"/>
            </a:br>
            <a:r>
              <a:rPr lang="en-US" altLang="en-US" b="1"/>
              <a:t>{11, 22}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1879D7F-819F-06DE-56D4-7BE85FCF99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Sets are immutable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3144C01-B58D-7ECD-DA76-FBC5E3E0B3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aset = {11, 22, 33}</a:t>
            </a:r>
          </a:p>
          <a:p>
            <a:pPr eaLnBrk="1" hangingPunct="1"/>
            <a:r>
              <a:rPr lang="en-US" altLang="en-US" b="1"/>
              <a:t>&gt;&gt;&gt; bset = aset</a:t>
            </a:r>
          </a:p>
          <a:p>
            <a:pPr eaLnBrk="1" hangingPunct="1"/>
            <a:r>
              <a:rPr lang="en-US" altLang="en-US" b="1"/>
              <a:t>&gt;&gt;&gt; aset = aset | {55}</a:t>
            </a:r>
          </a:p>
          <a:p>
            <a:pPr eaLnBrk="1" hangingPunct="1"/>
            <a:r>
              <a:rPr lang="en-US" altLang="en-US" b="1"/>
              <a:t>&gt;&gt;&gt; aset</a:t>
            </a:r>
            <a:br>
              <a:rPr lang="en-US" altLang="en-US" b="1"/>
            </a:br>
            <a:r>
              <a:rPr lang="en-US" altLang="en-US" b="1"/>
              <a:t>{33, 11, 22, 55}</a:t>
            </a:r>
          </a:p>
          <a:p>
            <a:pPr eaLnBrk="1" hangingPunct="1"/>
            <a:r>
              <a:rPr lang="en-US" altLang="en-US" b="1"/>
              <a:t>&gt;&gt;&gt; bset</a:t>
            </a:r>
            <a:br>
              <a:rPr lang="en-US" altLang="en-US" b="1"/>
            </a:br>
            <a:r>
              <a:rPr lang="en-US" altLang="en-US" b="1"/>
              <a:t>{33, 11, 22}</a:t>
            </a:r>
          </a:p>
          <a:p>
            <a:pPr eaLnBrk="1" hangingPunct="1">
              <a:buFontTx/>
              <a:buNone/>
            </a:pPr>
            <a:endParaRPr lang="en-US" altLang="en-US" b="1"/>
          </a:p>
        </p:txBody>
      </p:sp>
      <p:sp>
        <p:nvSpPr>
          <p:cNvPr id="18436" name="AutoShape 5">
            <a:extLst>
              <a:ext uri="{FF2B5EF4-FFF2-40B4-BE49-F238E27FC236}">
                <a16:creationId xmlns:a16="http://schemas.microsoft.com/office/drawing/2014/main" id="{88723497-E171-3FA1-0655-7F35FC47D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5" y="2138363"/>
            <a:ext cx="1897063" cy="989012"/>
          </a:xfrm>
          <a:prstGeom prst="wedgeEllipseCallout">
            <a:avLst>
              <a:gd name="adj1" fmla="val -142806"/>
              <a:gd name="adj2" fmla="val 58991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 Narrow" panose="020B0606020202030204" pitchFamily="34" charset="0"/>
                <a:cs typeface="Arial" panose="020B0604020202020204" pitchFamily="34" charset="0"/>
              </a:rPr>
              <a:t>Union of two sets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451E9AE-01E7-8F73-B0C3-B8A96150CB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Sets have no order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DC168BE-5FB7-EBAD-B114-CB39E3FE882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{1, 2, 3, 4, 5, 6, 7}</a:t>
            </a:r>
            <a:br>
              <a:rPr lang="en-US" altLang="en-US" b="1"/>
            </a:br>
            <a:r>
              <a:rPr lang="en-US" altLang="en-US" b="1"/>
              <a:t>{1, 2, 3, 4, 5, 6, 7}</a:t>
            </a:r>
          </a:p>
          <a:p>
            <a:pPr eaLnBrk="1" hangingPunct="1"/>
            <a:r>
              <a:rPr lang="en-US" altLang="en-US" b="1"/>
              <a:t>&gt;&gt;&gt; {11, 22, 33}</a:t>
            </a:r>
            <a:br>
              <a:rPr lang="en-US" altLang="en-US" b="1"/>
            </a:br>
            <a:r>
              <a:rPr lang="en-US" altLang="en-US" b="1"/>
              <a:t>{33, 11, 22}</a:t>
            </a:r>
          </a:p>
          <a:p>
            <a:pPr eaLnBrk="1" hangingPunct="1">
              <a:buFontTx/>
              <a:buNone/>
            </a:pPr>
            <a:endParaRPr lang="en-US" altLang="en-US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2113AF0-8D3C-036B-4EFB-01A2FF73A0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Sets do not support indexing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DDCF045-AC6F-CBAD-9C71-BCCF8746D0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84582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myset = {'Apples', 'Bananas', 'Oranges'}</a:t>
            </a:r>
          </a:p>
          <a:p>
            <a:pPr eaLnBrk="1" hangingPunct="1"/>
            <a:r>
              <a:rPr lang="en-US" altLang="en-US" b="1"/>
              <a:t>&gt;&gt;&gt; myset</a:t>
            </a:r>
            <a:br>
              <a:rPr lang="en-US" altLang="en-US" b="1"/>
            </a:br>
            <a:r>
              <a:rPr lang="en-US" altLang="en-US" b="1"/>
              <a:t>{'Bananas', 'Oranges', 'Apples'}</a:t>
            </a:r>
          </a:p>
          <a:p>
            <a:pPr eaLnBrk="1" hangingPunct="1"/>
            <a:r>
              <a:rPr lang="en-US" altLang="en-US" b="1"/>
              <a:t>&gt;&gt;&gt; myset[0]</a:t>
            </a:r>
            <a:br>
              <a:rPr lang="en-US" altLang="en-US" b="1"/>
            </a:br>
            <a:r>
              <a:rPr lang="en-US" altLang="en-US" b="1"/>
              <a:t>Traceback (most recent call last):</a:t>
            </a:r>
            <a:br>
              <a:rPr lang="en-US" altLang="en-US" b="1"/>
            </a:br>
            <a:r>
              <a:rPr lang="en-US" altLang="en-US" b="1"/>
              <a:t>   File "&lt;pyshell#2&gt;", line 1, in &lt;module&gt;</a:t>
            </a:r>
            <a:br>
              <a:rPr lang="en-US" altLang="en-US" b="1"/>
            </a:br>
            <a:r>
              <a:rPr lang="en-US" altLang="en-US" b="1"/>
              <a:t>      myset[0]</a:t>
            </a:r>
            <a:br>
              <a:rPr lang="en-US" altLang="en-US" b="1"/>
            </a:br>
            <a:r>
              <a:rPr lang="en-US" altLang="en-US" b="1"/>
              <a:t>TypeError: 'set' object does not support indexing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89508A9-4235-4236-068C-DE12CDDE68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Examples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A2284D9-E63B-5392-D571-7FA25295FD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fi-FI" altLang="en-US" b="1"/>
              <a:t>&gt;&gt;&gt; alist = [11, 22, 33, 22, 44]</a:t>
            </a:r>
          </a:p>
          <a:p>
            <a:pPr eaLnBrk="1" hangingPunct="1"/>
            <a:r>
              <a:rPr lang="en-US" altLang="en-US" b="1"/>
              <a:t>&gt;&gt;&gt; aset = set(alist)</a:t>
            </a:r>
          </a:p>
          <a:p>
            <a:pPr eaLnBrk="1" hangingPunct="1"/>
            <a:r>
              <a:rPr lang="en-US" altLang="en-US" b="1"/>
              <a:t>&gt;&gt;&gt; aset</a:t>
            </a:r>
            <a:br>
              <a:rPr lang="en-US" altLang="en-US" b="1"/>
            </a:br>
            <a:r>
              <a:rPr lang="en-US" altLang="en-US" b="1"/>
              <a:t>{33, 11, 44, 22}</a:t>
            </a:r>
          </a:p>
          <a:p>
            <a:pPr eaLnBrk="1" hangingPunct="1"/>
            <a:r>
              <a:rPr lang="en-US" altLang="en-US" b="1"/>
              <a:t>&gt;&gt;&gt; aset = aset + {55}</a:t>
            </a:r>
            <a:br>
              <a:rPr lang="en-US" altLang="en-US" b="1"/>
            </a:br>
            <a:r>
              <a:rPr lang="en-US" altLang="en-US" b="1"/>
              <a:t>SyntaxError: invalid syntax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070EED1-190F-9EEC-F9A5-86614F8701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Boolean operations on sets (I)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BB48004-A2DF-9D73-6689-376CDDDEB5B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1863" y="1981200"/>
            <a:ext cx="8212137" cy="4114800"/>
          </a:xfrm>
        </p:spPr>
        <p:txBody>
          <a:bodyPr/>
          <a:lstStyle/>
          <a:p>
            <a:pPr eaLnBrk="1" hangingPunct="1"/>
            <a:r>
              <a:rPr lang="en-US" altLang="en-US" b="1" u="sng"/>
              <a:t>Union of two sets</a:t>
            </a:r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r>
              <a:rPr lang="en-US" altLang="en-US"/>
              <a:t>Contains all elements that are in set </a:t>
            </a:r>
            <a:r>
              <a:rPr lang="en-US" altLang="en-US" b="1"/>
              <a:t>A</a:t>
            </a:r>
            <a:r>
              <a:rPr lang="en-US" altLang="en-US"/>
              <a:t> </a:t>
            </a:r>
            <a:r>
              <a:rPr lang="en-US" altLang="en-US" b="1" u="sng"/>
              <a:t>or</a:t>
            </a:r>
            <a:r>
              <a:rPr lang="en-US" altLang="en-US"/>
              <a:t> in set </a:t>
            </a:r>
            <a:r>
              <a:rPr lang="en-US" altLang="en-US" b="1"/>
              <a:t>B</a:t>
            </a:r>
          </a:p>
        </p:txBody>
      </p:sp>
      <p:sp>
        <p:nvSpPr>
          <p:cNvPr id="22532" name="Rectangle 8">
            <a:extLst>
              <a:ext uri="{FF2B5EF4-FFF2-40B4-BE49-F238E27FC236}">
                <a16:creationId xmlns:a16="http://schemas.microsoft.com/office/drawing/2014/main" id="{D8157A40-DE75-E967-C3F6-37D9FFB37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2973388"/>
            <a:ext cx="2049462" cy="60801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latin typeface="Arial Narrow" panose="020B060602020203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2533" name="Rectangle 9">
            <a:extLst>
              <a:ext uri="{FF2B5EF4-FFF2-40B4-BE49-F238E27FC236}">
                <a16:creationId xmlns:a16="http://schemas.microsoft.com/office/drawing/2014/main" id="{B8715381-B98A-10F0-18C8-6CE7610EA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5" y="2973388"/>
            <a:ext cx="2049463" cy="60801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latin typeface="Arial Narrow" panose="020B060602020203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2534" name="Rectangle 10">
            <a:extLst>
              <a:ext uri="{FF2B5EF4-FFF2-40B4-BE49-F238E27FC236}">
                <a16:creationId xmlns:a16="http://schemas.microsoft.com/office/drawing/2014/main" id="{59D4F3D8-BB01-1469-3159-072209558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4340225"/>
            <a:ext cx="2049463" cy="608013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2535" name="Rectangle 11">
            <a:extLst>
              <a:ext uri="{FF2B5EF4-FFF2-40B4-BE49-F238E27FC236}">
                <a16:creationId xmlns:a16="http://schemas.microsoft.com/office/drawing/2014/main" id="{9FDDE5F5-6EC0-95E6-30F5-4CF24355C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4340225"/>
            <a:ext cx="2049462" cy="608013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2536" name="Line 13">
            <a:extLst>
              <a:ext uri="{FF2B5EF4-FFF2-40B4-BE49-F238E27FC236}">
                <a16:creationId xmlns:a16="http://schemas.microsoft.com/office/drawing/2014/main" id="{A70B6D1E-3160-60D4-7B4D-B1260784D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4713" y="4340225"/>
            <a:ext cx="0" cy="6080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540EE4C-F932-CBA5-210D-F8C94F5BE0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Boolean operations on sets (II)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5FD0D57-6633-53DA-1E80-C9E8ECDCEE7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55663" y="1981200"/>
            <a:ext cx="8288337" cy="4114800"/>
          </a:xfrm>
        </p:spPr>
        <p:txBody>
          <a:bodyPr/>
          <a:lstStyle/>
          <a:p>
            <a:pPr eaLnBrk="1" hangingPunct="1"/>
            <a:r>
              <a:rPr lang="en-US" altLang="en-US" b="1" u="sng"/>
              <a:t>Intersection of two sets</a:t>
            </a:r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r>
              <a:rPr lang="en-US" altLang="en-US"/>
              <a:t>Contains all elements that are in both sets </a:t>
            </a:r>
            <a:r>
              <a:rPr lang="en-US" altLang="en-US" b="1"/>
              <a:t>A and B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9E0B18E-35EF-E4FC-7AE5-49911548A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2973388"/>
            <a:ext cx="2049462" cy="60801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latin typeface="Arial Narrow" panose="020B060602020203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05277EB7-3FF7-5A57-A6D8-376691634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5" y="2973388"/>
            <a:ext cx="2049463" cy="60801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latin typeface="Arial Narrow" panose="020B060602020203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1149AF7D-7D16-3E66-8836-B2C0D9E9E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4340225"/>
            <a:ext cx="2049463" cy="608013"/>
          </a:xfrm>
          <a:prstGeom prst="rect">
            <a:avLst/>
          </a:prstGeom>
          <a:noFill/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CBB2ECCB-CDFB-4772-9EE0-3B546E25A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4340225"/>
            <a:ext cx="2049462" cy="608013"/>
          </a:xfrm>
          <a:prstGeom prst="rect">
            <a:avLst/>
          </a:prstGeom>
          <a:noFill/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3560" name="Line 8">
            <a:extLst>
              <a:ext uri="{FF2B5EF4-FFF2-40B4-BE49-F238E27FC236}">
                <a16:creationId xmlns:a16="http://schemas.microsoft.com/office/drawing/2014/main" id="{4C870120-ACB0-F26F-AE21-71F972146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4713" y="4340225"/>
            <a:ext cx="0" cy="6080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219E8E8D-335A-0469-0FA4-84FADE284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4340225"/>
            <a:ext cx="568325" cy="608013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3810694-B10A-B54E-D99E-1486E82C8A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Boolean operations on sets (III)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ECDE61E-D7EF-9692-68F3-3554717DF3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 u="sng"/>
              <a:t>Difference  of two sets</a:t>
            </a:r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endParaRPr lang="en-US" altLang="en-US" b="1" u="sng"/>
          </a:p>
          <a:p>
            <a:pPr eaLnBrk="1" hangingPunct="1"/>
            <a:r>
              <a:rPr lang="en-US" altLang="en-US"/>
              <a:t>Contains all elements that are </a:t>
            </a:r>
            <a:r>
              <a:rPr lang="en-US" altLang="en-US" b="1" u="sng"/>
              <a:t>in</a:t>
            </a:r>
            <a:r>
              <a:rPr lang="en-US" altLang="en-US" b="1"/>
              <a:t> A</a:t>
            </a:r>
            <a:r>
              <a:rPr lang="en-US" altLang="en-US"/>
              <a:t>  but</a:t>
            </a:r>
            <a:r>
              <a:rPr lang="en-US" altLang="en-US" b="1"/>
              <a:t> </a:t>
            </a:r>
            <a:r>
              <a:rPr lang="en-US" altLang="en-US" b="1" u="sng"/>
              <a:t>not in</a:t>
            </a:r>
            <a:r>
              <a:rPr lang="en-US" altLang="en-US" b="1"/>
              <a:t>  B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D62AF918-0DFD-457F-DFB4-5CD9DDC67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2973388"/>
            <a:ext cx="2049462" cy="60801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latin typeface="Arial Narrow" panose="020B060602020203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47BDB9BA-8D9F-0174-2B72-64018502D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5" y="2973388"/>
            <a:ext cx="2049463" cy="60801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latin typeface="Arial Narrow" panose="020B060602020203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B594EE5B-670D-5F9A-276C-08752A2C2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4340225"/>
            <a:ext cx="2049463" cy="608013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2E40C7B0-3830-FB91-0A13-CFFB565B8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4340225"/>
            <a:ext cx="2049462" cy="608013"/>
          </a:xfrm>
          <a:prstGeom prst="rect">
            <a:avLst/>
          </a:prstGeom>
          <a:noFill/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4584" name="Line 8">
            <a:extLst>
              <a:ext uri="{FF2B5EF4-FFF2-40B4-BE49-F238E27FC236}">
                <a16:creationId xmlns:a16="http://schemas.microsoft.com/office/drawing/2014/main" id="{AEF3AFD1-A29B-7871-83D0-B4BC2F414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4713" y="4340225"/>
            <a:ext cx="0" cy="6080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70AF4AE8-F740-6979-2A13-FFCCD9B1F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4340225"/>
            <a:ext cx="568325" cy="608013"/>
          </a:xfrm>
          <a:prstGeom prst="rect">
            <a:avLst/>
          </a:prstGeom>
          <a:solidFill>
            <a:schemeClr val="bg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DB2CF12-69F9-C41C-C31B-C02C4D65B8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Boolean operations on sets (IV)</a:t>
            </a:r>
          </a:p>
        </p:txBody>
      </p:sp>
      <p:sp>
        <p:nvSpPr>
          <p:cNvPr id="602115" name="Rectangle 3">
            <a:extLst>
              <a:ext uri="{FF2B5EF4-FFF2-40B4-BE49-F238E27FC236}">
                <a16:creationId xmlns:a16="http://schemas.microsoft.com/office/drawing/2014/main" id="{EB4A5828-FEE5-D8C3-3BE3-46B796A01D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u="sng" kern="0"/>
              <a:t>Symmetric difference  of two sets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b="1" u="sng" kern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b="1" u="sng" kern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b="1" u="sng" kern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b="1" u="sng" ker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kern="0"/>
              <a:t>Contains all elements that are</a:t>
            </a:r>
            <a:r>
              <a:rPr lang="en-US" altLang="en-US" b="1" u="sng" kern="0"/>
              <a:t> eithe</a:t>
            </a:r>
            <a:r>
              <a:rPr lang="en-US" altLang="en-US" kern="0"/>
              <a:t>r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b="1" u="sng" kern="0"/>
              <a:t>in</a:t>
            </a:r>
            <a:r>
              <a:rPr lang="en-US" altLang="en-US" b="1" kern="0"/>
              <a:t> </a:t>
            </a:r>
            <a:r>
              <a:rPr lang="en-US" altLang="en-US" kern="0"/>
              <a:t>set </a:t>
            </a:r>
            <a:r>
              <a:rPr lang="en-US" altLang="en-US" b="1" kern="0"/>
              <a:t>A</a:t>
            </a:r>
            <a:r>
              <a:rPr lang="en-US" altLang="en-US" kern="0"/>
              <a:t>  but</a:t>
            </a:r>
            <a:r>
              <a:rPr lang="en-US" altLang="en-US" b="1" kern="0"/>
              <a:t> </a:t>
            </a:r>
            <a:r>
              <a:rPr lang="en-US" altLang="en-US" b="1" u="sng" kern="0"/>
              <a:t>not</a:t>
            </a:r>
            <a:r>
              <a:rPr lang="en-US" altLang="en-US" b="1" u="sng" ker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en-US" b="1" u="sng" kern="0"/>
              <a:t> in</a:t>
            </a:r>
            <a:r>
              <a:rPr lang="en-US" altLang="en-US" b="1" kern="0"/>
              <a:t> </a:t>
            </a:r>
            <a:r>
              <a:rPr lang="en-US" altLang="en-US" kern="0"/>
              <a:t>set</a:t>
            </a:r>
            <a:r>
              <a:rPr lang="en-US" altLang="en-US" b="1" kern="0"/>
              <a:t> B or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b="1" u="sng" kern="0"/>
              <a:t>in</a:t>
            </a:r>
            <a:r>
              <a:rPr lang="en-US" altLang="en-US" b="1" kern="0"/>
              <a:t> </a:t>
            </a:r>
            <a:r>
              <a:rPr lang="en-US" altLang="en-US" kern="0"/>
              <a:t>set </a:t>
            </a:r>
            <a:r>
              <a:rPr lang="en-US" altLang="en-US" b="1" kern="0"/>
              <a:t>B</a:t>
            </a:r>
            <a:r>
              <a:rPr lang="en-US" altLang="en-US" kern="0"/>
              <a:t>  but </a:t>
            </a:r>
            <a:r>
              <a:rPr lang="en-US" altLang="en-US" b="1" u="sng" kern="0"/>
              <a:t>not in</a:t>
            </a:r>
            <a:r>
              <a:rPr lang="en-US" altLang="en-US" b="1" kern="0"/>
              <a:t> </a:t>
            </a:r>
            <a:r>
              <a:rPr lang="en-US" altLang="en-US" kern="0"/>
              <a:t>set</a:t>
            </a:r>
            <a:r>
              <a:rPr lang="en-US" altLang="en-US" b="1" kern="0"/>
              <a:t> A 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D677188C-14D3-5D28-FDA8-7D2F7602A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2668588"/>
            <a:ext cx="2049462" cy="60801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latin typeface="Arial Narrow" panose="020B060602020203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589F082E-A744-E353-A244-AE6FA38A3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5" y="2668588"/>
            <a:ext cx="2049463" cy="608012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latin typeface="Arial Narrow" panose="020B060602020203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A3C898FB-D494-AB5D-60AC-1A5D823E9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3730625"/>
            <a:ext cx="2049463" cy="608013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35BA0304-A425-9227-D784-2A5FE7564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3730625"/>
            <a:ext cx="2049462" cy="608013"/>
          </a:xfrm>
          <a:prstGeom prst="rect">
            <a:avLst/>
          </a:prstGeom>
          <a:solidFill>
            <a:schemeClr val="accent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5608" name="Rectangle 9">
            <a:extLst>
              <a:ext uri="{FF2B5EF4-FFF2-40B4-BE49-F238E27FC236}">
                <a16:creationId xmlns:a16="http://schemas.microsoft.com/office/drawing/2014/main" id="{B233CA1B-2A23-3B12-F794-CF50B30A8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3730625"/>
            <a:ext cx="568325" cy="608013"/>
          </a:xfrm>
          <a:prstGeom prst="rect">
            <a:avLst/>
          </a:prstGeom>
          <a:solidFill>
            <a:schemeClr val="bg1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BA8A807-541F-FB4D-2CB8-2D8CB95292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Boolean operations on sets (V)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C0A8C5D-D0A3-98B7-302C-72663B39E5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aset = {11, 22, 33}</a:t>
            </a:r>
          </a:p>
          <a:p>
            <a:pPr eaLnBrk="1" hangingPunct="1"/>
            <a:r>
              <a:rPr lang="en-US" altLang="en-US" b="1"/>
              <a:t>&gt;&gt;&gt; bset = {12, 23, 33}</a:t>
            </a:r>
          </a:p>
          <a:p>
            <a:pPr eaLnBrk="1" hangingPunct="1"/>
            <a:r>
              <a:rPr lang="en-US" altLang="en-US" b="1" u="sng"/>
              <a:t>Union of two sets</a:t>
            </a:r>
          </a:p>
          <a:p>
            <a:pPr lvl="1" eaLnBrk="1" hangingPunct="1"/>
            <a:r>
              <a:rPr lang="en-US" altLang="en-US" b="1"/>
              <a:t>&gt;&gt;&gt; aset | bset </a:t>
            </a:r>
            <a:br>
              <a:rPr lang="en-US" altLang="en-US" b="1"/>
            </a:br>
            <a:r>
              <a:rPr lang="en-US" altLang="en-US" b="1"/>
              <a:t>{33, 22, 23, 11, 12}</a:t>
            </a:r>
          </a:p>
          <a:p>
            <a:pPr eaLnBrk="1" hangingPunct="1"/>
            <a:r>
              <a:rPr lang="en-US" altLang="en-US" b="1" u="sng"/>
              <a:t>Intersection of two sets:</a:t>
            </a:r>
          </a:p>
          <a:p>
            <a:pPr lvl="1" eaLnBrk="1" hangingPunct="1"/>
            <a:r>
              <a:rPr lang="en-US" altLang="en-US" b="1"/>
              <a:t>&gt;&gt;&gt; aset &amp; bset</a:t>
            </a:r>
            <a:br>
              <a:rPr lang="en-US" altLang="en-US" b="1"/>
            </a:br>
            <a:r>
              <a:rPr lang="en-US" altLang="en-US" b="1"/>
              <a:t>{33}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3FE974E-B188-1E9D-FEFF-77C4778F992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Boolean operations on sets (VI)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051B7DC-A637-21B3-09CE-1911452D8B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aset = {11, 22, 33}</a:t>
            </a:r>
          </a:p>
          <a:p>
            <a:pPr eaLnBrk="1" hangingPunct="1"/>
            <a:r>
              <a:rPr lang="en-US" altLang="en-US" b="1"/>
              <a:t>&gt;&gt;&gt; bset = {12, 23, 33}</a:t>
            </a:r>
          </a:p>
          <a:p>
            <a:pPr eaLnBrk="1" hangingPunct="1"/>
            <a:r>
              <a:rPr lang="en-US" altLang="en-US" b="1" u="sng"/>
              <a:t>Difference:</a:t>
            </a:r>
            <a:endParaRPr lang="en-US" altLang="en-US" b="1"/>
          </a:p>
          <a:p>
            <a:pPr lvl="1" eaLnBrk="1" hangingPunct="1"/>
            <a:r>
              <a:rPr lang="en-US" altLang="en-US" b="1"/>
              <a:t>&gt;&gt;&gt; aset – bset</a:t>
            </a:r>
            <a:br>
              <a:rPr lang="en-US" altLang="en-US" b="1"/>
            </a:br>
            <a:r>
              <a:rPr lang="en-US" altLang="en-US" b="1"/>
              <a:t>{11, 22}</a:t>
            </a:r>
          </a:p>
          <a:p>
            <a:pPr eaLnBrk="1" hangingPunct="1"/>
            <a:r>
              <a:rPr lang="en-US" altLang="en-US" b="1" u="sng"/>
              <a:t>Symmetric difference:</a:t>
            </a:r>
            <a:endParaRPr lang="en-US" altLang="en-US" b="1"/>
          </a:p>
          <a:p>
            <a:pPr lvl="1" eaLnBrk="1" hangingPunct="1"/>
            <a:r>
              <a:rPr lang="en-US" altLang="en-US" b="1"/>
              <a:t>&gt;&gt;&gt; aset ^ bset</a:t>
            </a:r>
            <a:br>
              <a:rPr lang="en-US" altLang="en-US" b="1"/>
            </a:br>
            <a:r>
              <a:rPr lang="en-US" altLang="en-US" b="1"/>
              <a:t>{11, 12, 22, 23}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A5C39675-FD03-0EA1-E8DE-B4A673D34D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DICTIONARIES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05C18A1-ADC2-4056-3D29-C46425F8E0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Dictionaries (I)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25B2782-BDDC-16B1-C9CD-65AD9BF35B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8458200" cy="4114800"/>
          </a:xfrm>
        </p:spPr>
        <p:txBody>
          <a:bodyPr/>
          <a:lstStyle/>
          <a:p>
            <a:pPr eaLnBrk="1" hangingPunct="1"/>
            <a:r>
              <a:rPr lang="en-US" altLang="en-US"/>
              <a:t>Store</a:t>
            </a:r>
            <a:r>
              <a:rPr lang="en-US" altLang="en-US" b="1"/>
              <a:t> </a:t>
            </a:r>
            <a:r>
              <a:rPr lang="en-US" altLang="en-US" b="1" i="1"/>
              <a:t>pair</a:t>
            </a:r>
            <a:r>
              <a:rPr lang="en-US" altLang="en-US" b="1"/>
              <a:t>s</a:t>
            </a:r>
            <a:r>
              <a:rPr lang="en-US" altLang="en-US"/>
              <a:t> of entries called </a:t>
            </a:r>
            <a:r>
              <a:rPr lang="en-US" altLang="en-US" b="1" i="1"/>
              <a:t>items</a:t>
            </a:r>
            <a:br>
              <a:rPr lang="en-US" altLang="en-US" b="1" i="1"/>
            </a:br>
            <a:r>
              <a:rPr lang="en-US" altLang="en-US" b="1"/>
              <a:t>{ 'CS' : '743-713-3350', 'UHPD' : '713-743-3333'}</a:t>
            </a:r>
          </a:p>
          <a:p>
            <a:pPr eaLnBrk="1" hangingPunct="1"/>
            <a:r>
              <a:rPr lang="en-US" altLang="en-US"/>
              <a:t>Each pair of entries contains</a:t>
            </a:r>
          </a:p>
          <a:p>
            <a:pPr lvl="1" eaLnBrk="1" hangingPunct="1"/>
            <a:r>
              <a:rPr lang="en-US" altLang="en-US"/>
              <a:t>A </a:t>
            </a:r>
            <a:r>
              <a:rPr lang="en-US" altLang="en-US" b="1" i="1"/>
              <a:t>key </a:t>
            </a:r>
          </a:p>
          <a:p>
            <a:pPr lvl="1" eaLnBrk="1" hangingPunct="1"/>
            <a:r>
              <a:rPr lang="en-US" altLang="en-US" b="1" i="1"/>
              <a:t>A value</a:t>
            </a:r>
          </a:p>
          <a:p>
            <a:pPr eaLnBrk="1" hangingPunct="1"/>
            <a:r>
              <a:rPr lang="en-US" altLang="en-US"/>
              <a:t>Key and values are separated by a colon </a:t>
            </a:r>
          </a:p>
          <a:p>
            <a:pPr eaLnBrk="1" hangingPunct="1"/>
            <a:r>
              <a:rPr lang="en-US" altLang="en-US"/>
              <a:t>Paris of entries are separated by commas</a:t>
            </a:r>
          </a:p>
          <a:p>
            <a:pPr eaLnBrk="1" hangingPunct="1"/>
            <a:r>
              <a:rPr lang="en-US" altLang="en-US"/>
              <a:t>Dictionary is enclosed within curly braces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19D9943-58FD-6FD2-0D2A-657C4684F29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Usage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9C1BA2C-C538-7239-69C9-C82A9F2087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Keys must be </a:t>
            </a:r>
            <a:r>
              <a:rPr lang="en-US" altLang="en-US" b="1" i="1"/>
              <a:t>unique</a:t>
            </a:r>
            <a:r>
              <a:rPr lang="en-US" altLang="en-US"/>
              <a:t> within a dictionary</a:t>
            </a:r>
          </a:p>
          <a:p>
            <a:pPr lvl="1" eaLnBrk="1" hangingPunct="1"/>
            <a:r>
              <a:rPr lang="en-US" altLang="en-US"/>
              <a:t>No </a:t>
            </a:r>
            <a:r>
              <a:rPr lang="en-US" altLang="en-US" b="1" i="1"/>
              <a:t>duplicates</a:t>
            </a:r>
          </a:p>
          <a:p>
            <a:pPr eaLnBrk="1" hangingPunct="1"/>
            <a:r>
              <a:rPr lang="en-US" altLang="en-US"/>
              <a:t>If we have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age = {'Alice' : 25, 'Bob' :28}</a:t>
            </a:r>
            <a:br>
              <a:rPr lang="en-US" altLang="en-US" b="1"/>
            </a:br>
            <a:r>
              <a:rPr lang="en-US" altLang="en-US"/>
              <a:t>then</a:t>
            </a:r>
            <a:br>
              <a:rPr lang="en-US" altLang="en-US" b="1"/>
            </a:br>
            <a:r>
              <a:rPr lang="en-US" altLang="en-US" b="1"/>
              <a:t>	age['Alice']</a:t>
            </a:r>
            <a:r>
              <a:rPr lang="en-US" altLang="en-US"/>
              <a:t> is</a:t>
            </a:r>
            <a:r>
              <a:rPr lang="en-US" altLang="en-US" b="1"/>
              <a:t> 25</a:t>
            </a:r>
            <a:br>
              <a:rPr lang="en-US" altLang="en-US" b="1"/>
            </a:br>
            <a:r>
              <a:rPr lang="en-US" altLang="en-US"/>
              <a:t>and</a:t>
            </a:r>
            <a:br>
              <a:rPr lang="en-US" altLang="en-US"/>
            </a:br>
            <a:r>
              <a:rPr lang="en-US" altLang="en-US" b="1"/>
              <a:t>	age[Bob']</a:t>
            </a:r>
            <a:r>
              <a:rPr lang="en-US" altLang="en-US"/>
              <a:t> is  </a:t>
            </a:r>
            <a:r>
              <a:rPr lang="en-US" altLang="en-US" b="1"/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9E632A-31A5-7BAF-87FA-A0669E749F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Dictionaries are mutable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E3CB424-3ADF-5889-5595-BF6BA6A4ED7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age = {'Alice' : 25, 'Bob' : 28}</a:t>
            </a:r>
          </a:p>
          <a:p>
            <a:pPr eaLnBrk="1" hangingPunct="1"/>
            <a:r>
              <a:rPr lang="en-US" altLang="en-US" b="1"/>
              <a:t>&gt;&gt;&gt; saved = age</a:t>
            </a:r>
          </a:p>
          <a:p>
            <a:pPr eaLnBrk="1" hangingPunct="1"/>
            <a:r>
              <a:rPr lang="en-US" altLang="en-US" b="1"/>
              <a:t>&gt;&gt;&gt; age['Bob'] = 29</a:t>
            </a:r>
          </a:p>
          <a:p>
            <a:pPr eaLnBrk="1" hangingPunct="1"/>
            <a:r>
              <a:rPr lang="en-US" altLang="en-US" b="1"/>
              <a:t>&gt;&gt;&gt; age</a:t>
            </a:r>
            <a:br>
              <a:rPr lang="en-US" altLang="en-US" b="1"/>
            </a:br>
            <a:r>
              <a:rPr lang="en-US" altLang="en-US" b="1"/>
              <a:t>{'Bob': 29, 'Alice': 25}</a:t>
            </a:r>
          </a:p>
          <a:p>
            <a:pPr eaLnBrk="1" hangingPunct="1"/>
            <a:r>
              <a:rPr lang="en-US" altLang="en-US" b="1"/>
              <a:t>&gt;&gt;&gt; saved</a:t>
            </a:r>
            <a:br>
              <a:rPr lang="en-US" altLang="en-US" b="1"/>
            </a:br>
            <a:r>
              <a:rPr lang="en-US" altLang="en-US" b="1"/>
              <a:t>{'Bob': 29, 'Alice': 25}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4B80D90-109B-C458-7F0A-EB8F61D80C0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Keys must be unique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DA23512-AA2C-62EF-6E4B-85D3DA820A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age = {'Alice' : 25, 'Bob' : 28, 'Alice' : 26}</a:t>
            </a:r>
          </a:p>
          <a:p>
            <a:pPr eaLnBrk="1" hangingPunct="1"/>
            <a:r>
              <a:rPr lang="en-US" altLang="en-US" b="1"/>
              <a:t>&gt;&gt;&gt; age</a:t>
            </a:r>
            <a:br>
              <a:rPr lang="en-US" altLang="en-US" b="1"/>
            </a:br>
            <a:r>
              <a:rPr lang="en-US" altLang="en-US" b="1"/>
              <a:t>{'Bob': 28, 'Alice': 26}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B2CA2FA-455D-8C9D-7227-C2150DCEC7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Displaying contents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E7AAC69-0DB7-94DD-12C8-7DEEAECE05D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55663" y="1981200"/>
            <a:ext cx="8288337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age = {'Alice' : 25, 'Carol': 'twenty-two'}</a:t>
            </a:r>
          </a:p>
          <a:p>
            <a:pPr eaLnBrk="1" hangingPunct="1"/>
            <a:r>
              <a:rPr lang="en-US" altLang="en-US" b="1"/>
              <a:t>&gt;&gt;&gt; age.items()</a:t>
            </a:r>
            <a:br>
              <a:rPr lang="en-US" altLang="en-US" b="1"/>
            </a:br>
            <a:r>
              <a:rPr lang="en-US" altLang="en-US" b="1"/>
              <a:t>dict_items([ ('Alice', 25), ('Carol', 'twenty-two')])</a:t>
            </a:r>
          </a:p>
          <a:p>
            <a:pPr eaLnBrk="1" hangingPunct="1"/>
            <a:r>
              <a:rPr lang="en-US" altLang="en-US" b="1"/>
              <a:t>&gt;&gt;&gt; age.keys()</a:t>
            </a:r>
            <a:br>
              <a:rPr lang="en-US" altLang="en-US" b="1"/>
            </a:br>
            <a:r>
              <a:rPr lang="en-US" altLang="en-US" b="1"/>
              <a:t>dict_keys([ 'Alice', 'Carol'])</a:t>
            </a:r>
          </a:p>
          <a:p>
            <a:pPr eaLnBrk="1" hangingPunct="1"/>
            <a:r>
              <a:rPr lang="en-US" altLang="en-US" b="1"/>
              <a:t> age.values()</a:t>
            </a:r>
            <a:br>
              <a:rPr lang="en-US" altLang="en-US" b="1"/>
            </a:br>
            <a:r>
              <a:rPr lang="en-US" altLang="en-US" b="1"/>
              <a:t>dict_values([28, 25, 'twenty-two'])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37644B9-1B5B-5DE7-1D0E-4DDE9B4EE7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Updating directories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DA3577D-D44C-36D6-F86C-5BAE63FA7A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age = {'Alice': 26 , 'Carol' : 22}</a:t>
            </a:r>
          </a:p>
          <a:p>
            <a:pPr eaLnBrk="1" hangingPunct="1"/>
            <a:r>
              <a:rPr lang="en-US" altLang="en-US" b="1"/>
              <a:t>&gt;&gt;&gt; age.update({'Bob' : 29})</a:t>
            </a:r>
          </a:p>
          <a:p>
            <a:pPr eaLnBrk="1" hangingPunct="1"/>
            <a:r>
              <a:rPr lang="en-US" altLang="en-US" b="1"/>
              <a:t>&gt;&gt;&gt; age</a:t>
            </a:r>
            <a:br>
              <a:rPr lang="en-US" altLang="en-US" b="1"/>
            </a:br>
            <a:r>
              <a:rPr lang="en-US" altLang="en-US" b="1"/>
              <a:t>{</a:t>
            </a:r>
            <a:r>
              <a:rPr lang="en-US" altLang="en-US" b="1" u="sng"/>
              <a:t>'Bob': 29</a:t>
            </a:r>
            <a:r>
              <a:rPr lang="en-US" altLang="en-US" b="1"/>
              <a:t>, 'Carol': 22, 'Alice': 26}</a:t>
            </a:r>
          </a:p>
          <a:p>
            <a:pPr eaLnBrk="1" hangingPunct="1"/>
            <a:r>
              <a:rPr lang="en-US" altLang="en-US" b="1"/>
              <a:t>&gt;&gt;&gt; age.update({'Carol' : 23})</a:t>
            </a:r>
          </a:p>
          <a:p>
            <a:pPr eaLnBrk="1" hangingPunct="1"/>
            <a:r>
              <a:rPr lang="en-US" altLang="en-US" b="1"/>
              <a:t>&gt;&gt;&gt; age</a:t>
            </a:r>
            <a:br>
              <a:rPr lang="en-US" altLang="en-US" b="1"/>
            </a:br>
            <a:r>
              <a:rPr lang="en-US" altLang="en-US" b="1"/>
              <a:t>{'Bob': 29, 'Carol': </a:t>
            </a:r>
            <a:r>
              <a:rPr lang="en-US" altLang="en-US" b="1" u="sng"/>
              <a:t>23</a:t>
            </a:r>
            <a:r>
              <a:rPr lang="en-US" altLang="en-US" b="1"/>
              <a:t>, 'Alice': 26}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D307CE8-B47D-818F-31B2-472BA1424D1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Returning a value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CA3F891-057A-80AA-0514-A1FCA1BA011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age = {'Bob': 29, 'Carol': 23, 'Alice': 26}</a:t>
            </a:r>
          </a:p>
          <a:p>
            <a:pPr eaLnBrk="1" hangingPunct="1"/>
            <a:r>
              <a:rPr lang="en-US" altLang="en-US" b="1"/>
              <a:t>&gt;&gt;&gt; age.get('Bob')</a:t>
            </a:r>
            <a:br>
              <a:rPr lang="en-US" altLang="en-US" b="1"/>
            </a:br>
            <a:r>
              <a:rPr lang="en-US" altLang="en-US" b="1"/>
              <a:t>29</a:t>
            </a:r>
          </a:p>
          <a:p>
            <a:pPr eaLnBrk="1" hangingPunct="1"/>
            <a:r>
              <a:rPr lang="en-US" altLang="en-US" b="1"/>
              <a:t>&gt;&gt;&gt; age['Bob']</a:t>
            </a:r>
            <a:br>
              <a:rPr lang="en-US" altLang="en-US" b="1"/>
            </a:br>
            <a:r>
              <a:rPr lang="en-US" altLang="en-US" b="1"/>
              <a:t>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BBF3BB5-42B2-FDF2-D591-B6A9CE8A36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Removing a specific item (I)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AF6C7F1-5E59-E4B4-CD3F-E57000BA69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 = {'Alice' : 26, 'Carol' : 'twenty-two'}</a:t>
            </a:r>
          </a:p>
          <a:p>
            <a:pPr eaLnBrk="1" hangingPunct="1"/>
            <a:r>
              <a:rPr lang="en-US" altLang="en-US" b="1"/>
              <a:t>&gt;&gt;&gt; a</a:t>
            </a:r>
            <a:br>
              <a:rPr lang="en-US" altLang="en-US" b="1"/>
            </a:br>
            <a:r>
              <a:rPr lang="en-US" altLang="en-US" b="1"/>
              <a:t>{'Carol': 'twenty-two', 'Alice': 26}</a:t>
            </a:r>
          </a:p>
          <a:p>
            <a:pPr eaLnBrk="1" hangingPunct="1"/>
            <a:r>
              <a:rPr lang="en-US" altLang="en-US" b="1"/>
              <a:t>&gt;&gt;&gt; a.pop('Carol’)</a:t>
            </a:r>
            <a:br>
              <a:rPr lang="en-US" altLang="en-US" b="1"/>
            </a:br>
            <a:r>
              <a:rPr lang="en-US" altLang="en-US" b="1"/>
              <a:t>'twenty-two'</a:t>
            </a:r>
          </a:p>
          <a:p>
            <a:pPr eaLnBrk="1" hangingPunct="1"/>
            <a:r>
              <a:rPr lang="en-US" altLang="en-US" b="1"/>
              <a:t>&gt;&gt;&gt; a</a:t>
            </a:r>
            <a:br>
              <a:rPr lang="en-US" altLang="en-US" b="1"/>
            </a:br>
            <a:r>
              <a:rPr lang="en-US" altLang="en-US" b="1"/>
              <a:t>{'Alice': 26}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7C0EBEC-F4F8-33A9-12D7-2ABC60C9F48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Removing a specific item (II)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DD1E7DB-B857-DE07-090D-9BC4172B6F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b="1"/>
              <a:t>&gt;&gt;&gt; a.pop('Alice')</a:t>
            </a:r>
            <a:br>
              <a:rPr lang="en-US" altLang="en-US" b="1"/>
            </a:br>
            <a:r>
              <a:rPr lang="en-US" altLang="en-US" b="1"/>
              <a:t>26</a:t>
            </a:r>
          </a:p>
          <a:p>
            <a:pPr eaLnBrk="1" hangingPunct="1"/>
            <a:r>
              <a:rPr lang="en-US" altLang="en-US" b="1"/>
              <a:t>&gt;&gt;&gt; a</a:t>
            </a:r>
            <a:br>
              <a:rPr lang="en-US" altLang="en-US" b="1"/>
            </a:br>
            <a:r>
              <a:rPr lang="en-US" altLang="en-US" b="1"/>
              <a:t>{}</a:t>
            </a:r>
          </a:p>
          <a:p>
            <a:pPr eaLnBrk="1" hangingPunct="1"/>
            <a:r>
              <a:rPr lang="en-US" altLang="en-US" b="1"/>
              <a:t>&gt;&gt;&gt;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5FF35C7-2D29-36DD-F83A-D340A83861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Remove a random item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223382E-DA73-EEB9-47EF-45A129798C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b="1"/>
              <a:t>&gt;&gt;&gt; age = {'Bob': 29, 'Carol': 23, 'Alice': 26}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/>
              <a:t>&gt;&gt;&gt; age.popitem()</a:t>
            </a:r>
            <a:br>
              <a:rPr lang="en-US" altLang="en-US" b="1"/>
            </a:br>
            <a:r>
              <a:rPr lang="en-US" altLang="en-US" b="1"/>
              <a:t>('Bob', 29)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/>
              <a:t>&gt;&gt;&gt; age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/>
              <a:t>{'Carol': 23, 'Alice': 26}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/>
              <a:t>&gt;&gt;&gt; age.popitem()</a:t>
            </a:r>
            <a:br>
              <a:rPr lang="en-US" altLang="en-US" b="1"/>
            </a:br>
            <a:r>
              <a:rPr lang="en-US" altLang="en-US" b="1"/>
              <a:t>('Carol', 23)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/>
              <a:t>&gt;&gt;&gt; age</a:t>
            </a:r>
            <a:br>
              <a:rPr lang="en-US" altLang="en-US" b="1"/>
            </a:br>
            <a:r>
              <a:rPr lang="en-US" altLang="en-US" b="1"/>
              <a:t>{'Alice': 26}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D35966B-E17D-803F-BF3B-666E4A09C1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FEA9A77-CB3C-5B80-5C41-EE6FDD223D7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Strings, lists, tuples, sets and dictionaries all deal with aggregates </a:t>
            </a:r>
          </a:p>
          <a:p>
            <a:pPr eaLnBrk="1" hangingPunct="1"/>
            <a:r>
              <a:rPr lang="en-US" altLang="en-US"/>
              <a:t>Two big differences</a:t>
            </a:r>
          </a:p>
          <a:p>
            <a:pPr lvl="1" eaLnBrk="1" hangingPunct="1"/>
            <a:r>
              <a:rPr lang="en-US" altLang="en-US" b="1" i="1"/>
              <a:t>Lists</a:t>
            </a:r>
            <a:r>
              <a:rPr lang="en-US" altLang="en-US"/>
              <a:t> and </a:t>
            </a:r>
            <a:r>
              <a:rPr lang="en-US" altLang="en-US" b="1" i="1"/>
              <a:t>dictionaries</a:t>
            </a:r>
            <a:r>
              <a:rPr lang="en-US" altLang="en-US"/>
              <a:t> are </a:t>
            </a:r>
            <a:r>
              <a:rPr lang="en-US" altLang="en-US" b="1" i="1"/>
              <a:t>mutable</a:t>
            </a:r>
          </a:p>
          <a:p>
            <a:pPr lvl="2" eaLnBrk="1" hangingPunct="1"/>
            <a:r>
              <a:rPr lang="en-US" altLang="en-US"/>
              <a:t>Unlike strings, tuples and sets</a:t>
            </a:r>
          </a:p>
          <a:p>
            <a:pPr lvl="1" eaLnBrk="1" hangingPunct="1"/>
            <a:r>
              <a:rPr lang="en-US" altLang="en-US" b="1" i="1"/>
              <a:t>Strings</a:t>
            </a:r>
            <a:r>
              <a:rPr lang="en-US" altLang="en-US"/>
              <a:t>, </a:t>
            </a:r>
            <a:r>
              <a:rPr lang="en-US" altLang="en-US" b="1" i="1"/>
              <a:t>lists</a:t>
            </a:r>
            <a:r>
              <a:rPr lang="en-US" altLang="en-US"/>
              <a:t> and </a:t>
            </a:r>
            <a:r>
              <a:rPr lang="en-US" altLang="en-US" b="1" i="1"/>
              <a:t>tuples</a:t>
            </a:r>
            <a:r>
              <a:rPr lang="en-US" altLang="en-US" b="1"/>
              <a:t> </a:t>
            </a:r>
            <a:r>
              <a:rPr lang="en-US" altLang="en-US"/>
              <a:t>are </a:t>
            </a:r>
            <a:r>
              <a:rPr lang="en-US" altLang="en-US" b="1" i="1"/>
              <a:t>ordered</a:t>
            </a:r>
            <a:endParaRPr lang="en-US" altLang="en-US"/>
          </a:p>
          <a:p>
            <a:pPr lvl="2" eaLnBrk="1" hangingPunct="1"/>
            <a:r>
              <a:rPr lang="en-US" altLang="en-US"/>
              <a:t>Unlike sets and dictionaries</a:t>
            </a:r>
            <a:endParaRPr lang="en-US" altLang="en-US" b="1" i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8142D36-A70A-CCF5-7E0A-67D61D9F6C5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Mutable aggregates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A559CE6-FF29-4DC6-18BC-A8592EBAD9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Can modify individual items</a:t>
            </a:r>
          </a:p>
          <a:p>
            <a:pPr lvl="1" eaLnBrk="1" hangingPunct="1"/>
            <a:r>
              <a:rPr lang="en-US" altLang="en-US" b="1"/>
              <a:t>x = [11, 22, 33]</a:t>
            </a:r>
            <a:br>
              <a:rPr lang="en-US" altLang="en-US" b="1"/>
            </a:br>
            <a:r>
              <a:rPr lang="en-US" altLang="en-US" b="1"/>
              <a:t>x[0] = 44</a:t>
            </a:r>
            <a:br>
              <a:rPr lang="en-US" altLang="en-US" b="1"/>
            </a:br>
            <a:r>
              <a:rPr lang="en-US" altLang="en-US"/>
              <a:t>will work</a:t>
            </a:r>
          </a:p>
          <a:p>
            <a:pPr eaLnBrk="1" hangingPunct="1"/>
            <a:r>
              <a:rPr lang="en-US" altLang="en-US"/>
              <a:t> Cannot save current value</a:t>
            </a:r>
          </a:p>
          <a:p>
            <a:pPr lvl="1" eaLnBrk="1" hangingPunct="1"/>
            <a:r>
              <a:rPr lang="en-US" altLang="en-US" b="1"/>
              <a:t>x = [11,22, 33]</a:t>
            </a:r>
            <a:br>
              <a:rPr lang="en-US" altLang="en-US" b="1"/>
            </a:br>
            <a:r>
              <a:rPr lang="en-US" altLang="en-US" b="1"/>
              <a:t>y = x</a:t>
            </a:r>
            <a:br>
              <a:rPr lang="en-US" altLang="en-US" b="1"/>
            </a:br>
            <a:r>
              <a:rPr lang="en-US" altLang="en-US"/>
              <a:t>will </a:t>
            </a:r>
            <a:r>
              <a:rPr lang="en-US" altLang="en-US" b="1"/>
              <a:t>not</a:t>
            </a:r>
            <a:r>
              <a:rPr lang="en-US" altLang="en-US"/>
              <a:t> work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6474FD5-9289-B67E-FC37-9ABBBC0A46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Immutable aggregates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804A58F-657E-D83D-9FAE-E27EF45D6DB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Cannot modify individual items</a:t>
            </a:r>
          </a:p>
          <a:p>
            <a:pPr lvl="1" eaLnBrk="1" hangingPunct="1"/>
            <a:r>
              <a:rPr lang="en-US" altLang="en-US" b="1"/>
              <a:t>s = 'hello!'</a:t>
            </a:r>
            <a:br>
              <a:rPr lang="en-US" altLang="en-US" b="1"/>
            </a:br>
            <a:r>
              <a:rPr lang="en-US" altLang="en-US" b="1"/>
              <a:t>s[0] = 'H'</a:t>
            </a:r>
            <a:br>
              <a:rPr lang="en-US" altLang="en-US" b="1"/>
            </a:br>
            <a:r>
              <a:rPr lang="en-US" altLang="en-US"/>
              <a:t>is an </a:t>
            </a:r>
            <a:r>
              <a:rPr lang="en-US" altLang="en-US" b="1"/>
              <a:t>ERROR</a:t>
            </a:r>
          </a:p>
          <a:p>
            <a:pPr eaLnBrk="1" hangingPunct="1"/>
            <a:r>
              <a:rPr lang="en-US" altLang="en-US"/>
              <a:t> Can save current value</a:t>
            </a:r>
          </a:p>
          <a:p>
            <a:pPr lvl="1" eaLnBrk="1" hangingPunct="1"/>
            <a:r>
              <a:rPr lang="en-US" altLang="en-US" b="1"/>
              <a:t>s= 'hello!'</a:t>
            </a:r>
            <a:br>
              <a:rPr lang="en-US" altLang="en-US" b="1"/>
            </a:br>
            <a:r>
              <a:rPr lang="en-US" altLang="en-US" b="1"/>
              <a:t>t = s</a:t>
            </a:r>
            <a:br>
              <a:rPr lang="en-US" altLang="en-US" b="1"/>
            </a:br>
            <a:r>
              <a:rPr lang="en-US" altLang="en-US"/>
              <a:t>will work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B08CA12-E42A-8A60-9B1F-0E7BEB1F5A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Ordered aggregates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4034DF8-FB9C-C023-447D-F915F2DB318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Entities in the collection can be accessed through a </a:t>
            </a:r>
            <a:r>
              <a:rPr lang="en-US" altLang="en-US" b="1"/>
              <a:t>numerical index</a:t>
            </a:r>
          </a:p>
          <a:p>
            <a:pPr lvl="1" eaLnBrk="1" hangingPunct="1"/>
            <a:r>
              <a:rPr lang="en-US" altLang="en-US" b="1"/>
              <a:t>s= 'Hello!'</a:t>
            </a:r>
            <a:br>
              <a:rPr lang="en-US" altLang="en-US" b="1"/>
            </a:br>
            <a:r>
              <a:rPr lang="en-US" altLang="en-US" b="1"/>
              <a:t>s[0]</a:t>
            </a:r>
          </a:p>
          <a:p>
            <a:pPr lvl="1" eaLnBrk="1" hangingPunct="1"/>
            <a:r>
              <a:rPr lang="en-US" altLang="en-US" b="1"/>
              <a:t>x = ['Alice', 'Bob', 'Carol']</a:t>
            </a:r>
            <a:br>
              <a:rPr lang="en-US" altLang="en-US" b="1"/>
            </a:br>
            <a:r>
              <a:rPr lang="en-US" altLang="en-US" b="1"/>
              <a:t>x[-1]</a:t>
            </a:r>
          </a:p>
          <a:p>
            <a:pPr lvl="1" eaLnBrk="1" hangingPunct="1"/>
            <a:r>
              <a:rPr lang="en-US" altLang="en-US" b="1"/>
              <a:t>t = (11, 22)</a:t>
            </a:r>
            <a:br>
              <a:rPr lang="en-US" altLang="en-US" b="1"/>
            </a:br>
            <a:r>
              <a:rPr lang="en-US" altLang="en-US" b="1"/>
              <a:t>t[1] 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7BEC042-8688-23D7-DE1E-786536DC9D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Other aggregates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43F288A-E950-E55C-EAC8-3876ACCFA10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Cannot index sets</a:t>
            </a:r>
          </a:p>
          <a:p>
            <a:pPr lvl="1" eaLnBrk="1" hangingPunct="1"/>
            <a:r>
              <a:rPr lang="en-US" altLang="en-US" b="1"/>
              <a:t> myset = {'Apples', 'Bananas', 'Oranges'} myset[0] is WRONG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en-US"/>
              <a:t>Can only index dictionaries </a:t>
            </a:r>
            <a:r>
              <a:rPr lang="en-US" altLang="en-US" b="1"/>
              <a:t>through their keys</a:t>
            </a:r>
          </a:p>
          <a:p>
            <a:pPr lvl="1" eaLnBrk="1" hangingPunct="1"/>
            <a:r>
              <a:rPr lang="en-US" altLang="en-US" b="1"/>
              <a:t>age = {'Bob': 29, 'Carol': 23, 'Alice': 26}</a:t>
            </a:r>
            <a:br>
              <a:rPr lang="en-US" altLang="en-US" b="1"/>
            </a:br>
            <a:r>
              <a:rPr lang="en-US" altLang="en-US" b="1"/>
              <a:t>age['Alice']</a:t>
            </a:r>
            <a:r>
              <a:rPr lang="en-US" altLang="en-US"/>
              <a:t> works</a:t>
            </a:r>
            <a:br>
              <a:rPr lang="en-US" altLang="en-US"/>
            </a:br>
            <a:r>
              <a:rPr lang="en-US" altLang="en-US" b="1"/>
              <a:t>age[0] </a:t>
            </a:r>
            <a:r>
              <a:rPr lang="en-US" altLang="en-US"/>
              <a:t>is </a:t>
            </a:r>
            <a:r>
              <a:rPr lang="en-US" altLang="en-US" b="1"/>
              <a:t>WRONG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1645</Words>
  <Application>Microsoft Office PowerPoint</Application>
  <PresentationFormat>On-screen Show (4:3)</PresentationFormat>
  <Paragraphs>220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Arial Narrow</vt:lpstr>
      <vt:lpstr>Calibri</vt:lpstr>
      <vt:lpstr>Calibri Light</vt:lpstr>
      <vt:lpstr>Times New Roman</vt:lpstr>
      <vt:lpstr>Office Theme</vt:lpstr>
      <vt:lpstr>TUPLES, SETS AND DICTIONARIES</vt:lpstr>
      <vt:lpstr>TUPLES</vt:lpstr>
      <vt:lpstr>Tuples</vt:lpstr>
      <vt:lpstr>Examples</vt:lpstr>
      <vt:lpstr>Why?</vt:lpstr>
      <vt:lpstr>Tuples are immutable</vt:lpstr>
      <vt:lpstr>Things that do not work</vt:lpstr>
      <vt:lpstr>Sorting tuples</vt:lpstr>
      <vt:lpstr>Most other things work!</vt:lpstr>
      <vt:lpstr>The reverse does not work</vt:lpstr>
      <vt:lpstr>Converting sequences into tuples</vt:lpstr>
      <vt:lpstr>SETS</vt:lpstr>
      <vt:lpstr>Sets</vt:lpstr>
      <vt:lpstr>Sets do not contain duplicates</vt:lpstr>
      <vt:lpstr>Sets are immutable</vt:lpstr>
      <vt:lpstr>Sets have no order</vt:lpstr>
      <vt:lpstr>Sets do not support indexing</vt:lpstr>
      <vt:lpstr>Examples</vt:lpstr>
      <vt:lpstr>Boolean operations on sets (I)</vt:lpstr>
      <vt:lpstr>Boolean operations on sets (II)</vt:lpstr>
      <vt:lpstr>Boolean operations on sets (III)</vt:lpstr>
      <vt:lpstr>Boolean operations on sets (IV)</vt:lpstr>
      <vt:lpstr>Boolean operations on sets (V)</vt:lpstr>
      <vt:lpstr>Boolean operations on sets (VI)</vt:lpstr>
      <vt:lpstr>DICTIONARIES</vt:lpstr>
      <vt:lpstr>Dictionaries (I)</vt:lpstr>
      <vt:lpstr>Usage</vt:lpstr>
      <vt:lpstr>Dictionaries are mutable</vt:lpstr>
      <vt:lpstr>Keys must be unique</vt:lpstr>
      <vt:lpstr>Displaying contents</vt:lpstr>
      <vt:lpstr>Updating directories</vt:lpstr>
      <vt:lpstr>Returning a value</vt:lpstr>
      <vt:lpstr>Removing a specific item (I)</vt:lpstr>
      <vt:lpstr>Removing a specific item (II)</vt:lpstr>
      <vt:lpstr>Remove a random item</vt:lpstr>
      <vt:lpstr>Summary</vt:lpstr>
      <vt:lpstr>Mutable aggregates</vt:lpstr>
      <vt:lpstr>Immutable aggregates</vt:lpstr>
      <vt:lpstr>Ordered aggregates</vt:lpstr>
      <vt:lpstr>Other aggregates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LISTS</dc:title>
  <dc:creator>Jehan-François Pâris</dc:creator>
  <cp:lastModifiedBy>Dell</cp:lastModifiedBy>
  <cp:revision>13</cp:revision>
  <dcterms:created xsi:type="dcterms:W3CDTF">2013-10-07T15:50:22Z</dcterms:created>
  <dcterms:modified xsi:type="dcterms:W3CDTF">2024-05-26T11:20:59Z</dcterms:modified>
</cp:coreProperties>
</file>