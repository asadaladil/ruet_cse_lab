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3"/>
  </p:notesMasterIdLst>
  <p:handoutMasterIdLst>
    <p:handoutMasterId r:id="rId24"/>
  </p:handoutMasterIdLst>
  <p:sldIdLst>
    <p:sldId id="319" r:id="rId2"/>
    <p:sldId id="257" r:id="rId3"/>
    <p:sldId id="487" r:id="rId4"/>
    <p:sldId id="502" r:id="rId5"/>
    <p:sldId id="488" r:id="rId6"/>
    <p:sldId id="342" r:id="rId7"/>
    <p:sldId id="384" r:id="rId8"/>
    <p:sldId id="387" r:id="rId9"/>
    <p:sldId id="451" r:id="rId10"/>
    <p:sldId id="389" r:id="rId11"/>
    <p:sldId id="390" r:id="rId12"/>
    <p:sldId id="457" r:id="rId13"/>
    <p:sldId id="458" r:id="rId14"/>
    <p:sldId id="475" r:id="rId15"/>
    <p:sldId id="489" r:id="rId16"/>
    <p:sldId id="392" r:id="rId17"/>
    <p:sldId id="394" r:id="rId18"/>
    <p:sldId id="464" r:id="rId19"/>
    <p:sldId id="503" r:id="rId20"/>
    <p:sldId id="504" r:id="rId21"/>
    <p:sldId id="505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CF425F9-87F9-9197-7184-FCD34DA95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DBE011E-FBEA-CEB7-4073-886EC6A389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C3DC46CA-2CEF-65CD-D3B1-DC501B2B07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D866A90C-2C52-4258-5441-C5D639C0D65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D89E226-E611-42A5-9444-311B1FC326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EFB4662-B4E7-6837-0055-BB5D208DFB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2F4B006-3AD3-8D3F-BF5A-3D2493CAE45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A9332F7-26B9-6D1E-094E-C6310CB5699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C0625386-6906-B1F2-5924-4E0CDE56518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9423C225-E371-7449-102C-17936F85C1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15D501BE-D6E0-78AD-CC83-70F28EF0A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93D1B16-FAE4-4DBA-84EF-A9A59BDA21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F0F0F2DE-0AD0-B59D-07DE-02FFBDDDD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06C09FF-AA63-440E-ABA6-308A1ED74690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  <p:sp>
        <p:nvSpPr>
          <p:cNvPr id="16387" name="Rectangle 2050">
            <a:extLst>
              <a:ext uri="{FF2B5EF4-FFF2-40B4-BE49-F238E27FC236}">
                <a16:creationId xmlns:a16="http://schemas.microsoft.com/office/drawing/2014/main" id="{E491A170-44ED-11D8-76E6-AE70926219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2051">
            <a:extLst>
              <a:ext uri="{FF2B5EF4-FFF2-40B4-BE49-F238E27FC236}">
                <a16:creationId xmlns:a16="http://schemas.microsoft.com/office/drawing/2014/main" id="{AB022C12-9F58-7B40-67D9-6DDA93C3F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BEA1B37-37EB-9B84-C9E6-0EAA885FB4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1B3845-3390-458C-8416-7171E699F551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EF55DBD-BDCE-4992-B22D-39D635E734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BE30EA3-B4D2-0C6C-2CE9-40E53CFF9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E98B96C-E081-BE9D-2F89-BDB970C4EB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8840FCC-D4EB-8447-12E7-89F8A084B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7B5423-95CC-FCED-7859-114FE12C70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D5A5F47-4F6C-5793-FEED-B4F230CA3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89D8FBE-8CE1-D828-5D16-534060EE4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A5EA81-0F9E-4971-AD78-F901A6C8AD1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D621232-224C-BF3A-A868-B6C4303FBD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83EE579-AB6E-6E81-ACAA-15CCE1C01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167C415-5C16-3A1A-77CC-FF1D3CE3D2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755D85D-2077-9A10-A2F6-BCD163EF7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5A39FDD-4348-730B-4714-62EBC1D09B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2901B2B-1C3B-F53C-9332-F9F1A4F6F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088A1ED-CC53-DC92-35DE-CF9BF2FBA5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2E21722-7157-BD39-44F1-05FC5F2DB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3DEA90F-96B2-15EE-7FFE-CF3C6AA3C4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AF2FEFE-ECF6-7B37-F4EA-2FC4AEE20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F9D5801-34F8-9845-89BC-D942A571DF5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CA70619-4CFA-B32F-D706-57A18CBC3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5939862-4102-BE48-151C-CB18E0EC9BA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27E7386-CADE-D158-51FB-59AE60995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25ECAAF-8FEB-C457-3B2D-3611933C95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EAE91FB-14BB-BBDB-DEE2-BE75EA4EC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2DB9BAF-7531-FCF9-E770-EB0C89F989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2FD0A13-1BDA-EDD5-5BD5-0EC4013A3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CAA04BF-C9C2-8B50-3DE3-96644A3946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D7911EB-7B51-30F9-137A-4D28DF749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E45EE45-D170-499E-2C7A-03A16B1B70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F5BF1C3-8D91-2C1D-79F9-1512B638D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8D1C6E8-3C67-1392-33A1-23A1CBCA2E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9B49E14-5D7D-6A02-5917-4125147F0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53EEF1F-429B-329E-ECE8-3B107D0CF3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E2B57A8-10C8-47FB-CE5F-B1552FF8C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63B1-6682-ED3C-8FE9-0801BE92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Linux+ Guide to Linux Certification, Second Edition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777F2-DC20-23B9-41E0-E601C26A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F883-C203-BD0C-2925-10C07AC5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F566A-81DD-4731-83F6-C47836DFE3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61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278D8-E95B-505A-EAE8-F5659CA1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F2953-9420-49D5-9D8E-3907616467B9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CD4B7-D74E-0B5F-21CA-D0A9154F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CF2CA-3E40-EC71-4374-71D4C7F9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3B1C7-FD57-4B53-82A4-CF29A79202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5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B1C6-2C14-7147-D197-CC43FF13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095CC-B96E-48DC-8E76-B27277609617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6B41F-E795-EE7D-ED85-51989D6F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E648-E1EB-58EB-1BC6-6B945306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78C44-DC43-4B2C-8961-28F093E746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49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0A17F-4DF1-56E7-DD1A-B9AE226D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46E9F-7C91-4127-8E3E-88CE1688A242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36891-E29F-A42D-1516-4AD52E3D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14E2D-676F-4C8E-0AFB-DC4F8642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74C77-91CA-4B23-84E4-D8FEA114A5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43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05905-12AC-609F-501A-79196585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0E573-465F-4C64-8778-37EF106C79F8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E12DD-7440-169B-97E2-9175E859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E6751-5B8D-DC2D-9116-AEB537EF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0100F-F39A-4539-8ED7-2D2D902340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79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CC672-E7EA-A2D6-8804-E468164E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1EE15-80F6-4235-9938-F78D031316E2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90392-E94F-E19C-4D16-6F9BC734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3AAC3-D5A9-03F9-7718-9C4E110B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AE30B-03E2-4707-9A67-CFCF37376A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34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BF264-374D-1D45-A590-83CF252A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CEDD2-2822-4EB2-B6CD-4BCA91844446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BD6AF-85A5-9A89-B759-BBC483EE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0194D-3958-400C-0DC7-0DDECA6F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FE1EC-DF89-4060-91A2-C78B8DBB8B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7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21088-82C4-0A7E-178C-4D6FB950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0C724-4375-434F-85A3-DDCB73F92597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D1ADF-0A72-55E5-298C-E42E5D32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6BCC6-BFC8-B182-7047-40ADEAED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521AD-646B-41CC-82AF-EA98EC3294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97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A2701-1263-FEDE-690C-85C9A3FE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150DB-6DC5-4429-8A12-5035968B2686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B49EA-F91B-01E1-5F44-862846B1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149F4-993E-1E11-14BF-803E408A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B37BF-BA8D-4F98-A457-17CB125082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95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A9101-D134-7F8E-4251-4B9718E9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E10B6-8744-4BE6-8BB8-3F6DE90DFC1A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9FFA-7908-8469-30CA-BC33FC1A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DA393-0738-BE55-3A7C-27AED287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2BA7-3E2B-4800-AC7A-C4424A3DAC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19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47C45-A005-20A3-858C-BBBB06F2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AA7B9-66CC-42A1-9F5C-9CDE8D71594E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126C-083B-4660-9B67-1FDA51F6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94789-D8B9-71AC-1C23-5F064D81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3D9EF-B601-4B7A-BDED-00BD371B34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55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8EF37F7-74D2-D1D1-5FEA-EE51404B0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CAB4B-B53B-FD0E-4650-8EC3CA198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79701-D618-1F10-7CD9-C5CD257CE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DD204E3-EB13-4C1A-A851-B54674F53FD3}" type="datetimeFigureOut">
              <a:rPr lang="en-US"/>
              <a:pPr>
                <a:defRPr/>
              </a:pPr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7452-3E72-0115-2683-6829142FD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85D27-40D8-B5CB-E2F5-4F1745817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8228D50-EFCA-4DCA-915D-4589931A0A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4EBA80C-678D-A0D3-43FD-FFCB9EDF26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r>
              <a:rPr lang="en-US" altLang="en-US" b="1"/>
              <a:t>File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3C6C1B6-C99A-2052-B689-B3AB585AE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2083F92D-B73C-FDAC-EB52-C7384CFA7F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Read from text files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Write to text files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Read and write more complex data with files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58A2B8F8-A892-1636-0722-B190E160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E372FD-039E-4E9B-BC9C-3E33EED11F7E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DFECAF8-9BF4-75C7-67A1-C2374053B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from Text Files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4D8AB6E-8E18-FFCA-A756-25AE6B5ED9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/>
              <a:t>Plain text file:</a:t>
            </a:r>
            <a:r>
              <a:rPr lang="en-US" altLang="en-US"/>
              <a:t> File made up of only ASCII characters</a:t>
            </a:r>
          </a:p>
          <a:p>
            <a:r>
              <a:rPr lang="en-US" altLang="en-US"/>
              <a:t>Easy to read strings from plain text files</a:t>
            </a:r>
          </a:p>
          <a:p>
            <a:r>
              <a:rPr lang="en-US" altLang="en-US"/>
              <a:t>Text files good choice for simple information</a:t>
            </a:r>
          </a:p>
          <a:p>
            <a:pPr lvl="1"/>
            <a:r>
              <a:rPr lang="en-US" altLang="en-US"/>
              <a:t>Easy to edit</a:t>
            </a:r>
          </a:p>
          <a:p>
            <a:pPr lvl="1"/>
            <a:r>
              <a:rPr lang="en-US" altLang="en-US"/>
              <a:t>Cross-platform</a:t>
            </a:r>
          </a:p>
          <a:p>
            <a:pPr lvl="1"/>
            <a:r>
              <a:rPr lang="en-US" altLang="en-US"/>
              <a:t>Human readable! 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52813F15-94C8-C56B-E2E8-887D250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85A68E7-2646-4CB2-8843-F5B73570BE7F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A03EABA6-C8F5-663A-A6F6-5C1CA3E90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&amp; Writing Files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0B8C-5F54-67D2-9B94-24B64859B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76400"/>
            <a:ext cx="8153400" cy="45720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/>
              <a:t>Opening and closing files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the_file = open(filename, mode)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the_file.close()</a:t>
            </a:r>
          </a:p>
          <a:p>
            <a:r>
              <a:rPr lang="en-US" altLang="en-US" sz="2400"/>
              <a:t>Reading files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string = the_file.read(number_of_characters)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string = the_file.readline(number_of_characters)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list_of_strings = the_file.readlines()</a:t>
            </a:r>
          </a:p>
          <a:p>
            <a:r>
              <a:rPr lang="en-US" altLang="en-US" sz="2400"/>
              <a:t>Writing files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the_file.write(string)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the_file.writelines(list_of_strings)</a:t>
            </a:r>
          </a:p>
          <a:p>
            <a:endParaRPr lang="en-US" altLang="en-US" sz="2000"/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35F21433-6B8F-B806-8D6F-A2943F2C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A0E71F-35F5-4DF3-99F0-E39D91E4D0E1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5F7DED2-8C79-AD3C-5CA8-E00D474FB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Read It Program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4156DF8-3510-6067-D017-E3D217E7D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File read_it.txt contains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Line 1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This is line 2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That makes this line 3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F52A7F6A-4A79-7D46-5BF1-8376076A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E59B994-BF28-4F10-95F0-025EB67384CA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6D0F92F-FDF8-956F-85E7-259D0BF13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Opening and Closing a Text File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1351F5E-0C34-74EF-337C-81BAB2E94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 = open("read_it.txt", "r")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/>
              <a:t>Must open before read (or write)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open()</a:t>
            </a:r>
            <a:r>
              <a:rPr lang="en-US" altLang="en-US"/>
              <a:t> function</a:t>
            </a:r>
          </a:p>
          <a:p>
            <a:pPr lvl="1"/>
            <a:r>
              <a:rPr lang="en-US" altLang="en-US"/>
              <a:t>Must pass string filename as first argument, can include path info</a:t>
            </a:r>
          </a:p>
          <a:p>
            <a:pPr lvl="1"/>
            <a:r>
              <a:rPr lang="en-US" altLang="en-US"/>
              <a:t>Pass access mode as second argument</a:t>
            </a:r>
          </a:p>
          <a:p>
            <a:pPr lvl="1"/>
            <a:r>
              <a:rPr lang="en-US" altLang="en-US"/>
              <a:t>Returns file object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"r"</a:t>
            </a:r>
            <a:r>
              <a:rPr lang="en-US" altLang="en-US"/>
              <a:t> opens file for reading </a:t>
            </a:r>
          </a:p>
          <a:p>
            <a:r>
              <a:rPr lang="en-US" altLang="en-US"/>
              <a:t>Can open a file for reading, writing, or both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14F48107-0FD7-D736-F36A-3FF10D7F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937D5C-F1C2-45BD-B564-16FA9390B7B0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D17089B-74E9-221A-CEFB-F96B1A949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Opening and Closing a Text File (continued)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24FD5371-239B-FDED-06F4-BA27D939F8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2000"/>
              <a:t>Table 7.1: Selected File Access Modes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2000"/>
              <a:t>Files can be opened for reading, writing, or both.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DD922386-3DF2-91B6-4CB2-00751EEE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A363C69-59F5-491B-9EA5-6477707B1584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6629" name="Picture 4" descr="C:\Documents and Settings\Owner\Desktop\table7.1.jpg">
            <a:extLst>
              <a:ext uri="{FF2B5EF4-FFF2-40B4-BE49-F238E27FC236}">
                <a16:creationId xmlns:a16="http://schemas.microsoft.com/office/drawing/2014/main" id="{DCCB09FE-43D3-1540-AA91-B07967F6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772400" cy="338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6533C1F-928C-19AE-ACDB-6B5D44B62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Opening and Closing a Text File (continued)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C25A87E-E852-5AD6-168F-A6975769A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text_file.close()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close()</a:t>
            </a:r>
            <a:r>
              <a:rPr lang="en-US" altLang="en-US"/>
              <a:t> file object method closes file</a:t>
            </a:r>
          </a:p>
          <a:p>
            <a:r>
              <a:rPr lang="en-US" altLang="en-US"/>
              <a:t>Always close file when done reading or writing</a:t>
            </a:r>
          </a:p>
          <a:p>
            <a:r>
              <a:rPr lang="en-US" altLang="en-US"/>
              <a:t>Closed file can't be read from or written to until opened again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2D2458B5-72FC-E563-C8F0-9F2F365C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221263-7DDA-428F-9D5F-1EE9ED27E4B9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C723724-EA2B-3920-F873-A1FD7832A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Characters from a Text File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AF23129-198B-057A-0417-8034E07237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text_file.read(1)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text_file.read(5)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ine 1</a:t>
            </a: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read()</a:t>
            </a:r>
            <a:r>
              <a:rPr lang="en-US" altLang="en-US"/>
              <a:t> file object method </a:t>
            </a:r>
          </a:p>
          <a:p>
            <a:pPr lvl="1"/>
            <a:r>
              <a:rPr lang="en-US" altLang="en-US"/>
              <a:t>Allows reading a specified number of characters </a:t>
            </a:r>
          </a:p>
          <a:p>
            <a:pPr lvl="1"/>
            <a:r>
              <a:rPr lang="en-US" altLang="en-US"/>
              <a:t>Accepts number of characters to be read</a:t>
            </a:r>
          </a:p>
          <a:p>
            <a:pPr lvl="1"/>
            <a:r>
              <a:rPr lang="en-US" altLang="en-US"/>
              <a:t>Returns string</a:t>
            </a:r>
          </a:p>
          <a:p>
            <a:r>
              <a:rPr lang="en-US" altLang="en-US"/>
              <a:t>Each </a:t>
            </a:r>
            <a:r>
              <a:rPr lang="en-US" altLang="en-US" sz="2200">
                <a:latin typeface="Courier New" panose="02070309020205020404" pitchFamily="49" charset="0"/>
              </a:rPr>
              <a:t>read()</a:t>
            </a:r>
            <a:r>
              <a:rPr lang="en-US" altLang="en-US"/>
              <a:t> begins where the last ended </a:t>
            </a:r>
          </a:p>
          <a:p>
            <a:r>
              <a:rPr lang="en-US" altLang="en-US"/>
              <a:t>At end of file, </a:t>
            </a:r>
            <a:r>
              <a:rPr lang="en-US" altLang="en-US" sz="2200">
                <a:latin typeface="Courier New" panose="02070309020205020404" pitchFamily="49" charset="0"/>
              </a:rPr>
              <a:t>read()</a:t>
            </a:r>
            <a:r>
              <a:rPr lang="en-US" altLang="en-US"/>
              <a:t> returns empty string</a:t>
            </a: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1EC80B42-5A01-CBDC-FAF3-661EF6D1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E37F1E-1109-4C47-8C41-69F8832E57E1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86BF3F9-B4F6-7661-0686-731737838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Characters from a Text File (continued)</a:t>
            </a:r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16A39F8A-21BD-CCD1-3E6D-9C82D7FAC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whole_thing = text_file.read()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whole_thing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Line 1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This is line 2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That makes this line 3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read()</a:t>
            </a:r>
            <a:r>
              <a:rPr lang="en-US" altLang="en-US"/>
              <a:t> returns entire text file as a single string if no argument passed</a:t>
            </a: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1470F573-9C86-AFE4-499C-67FE07B40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E9DDE0-87B1-4B04-8E73-D4FA961C599D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4FA0A02-6231-B01D-93BB-667EBFA5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Characters from a Line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4764EB2-67DF-5BB3-24F6-AE75D3546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text_file = open("read_it.txt", "r")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text_file.readline(1)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text_file.readline(5)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ine 1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readline()</a:t>
            </a:r>
            <a:r>
              <a:rPr lang="en-US" altLang="en-US"/>
              <a:t> file object method</a:t>
            </a:r>
          </a:p>
          <a:p>
            <a:pPr lvl="1"/>
            <a:r>
              <a:rPr lang="en-US" altLang="en-US"/>
              <a:t>Reads from current line</a:t>
            </a:r>
          </a:p>
          <a:p>
            <a:pPr lvl="1"/>
            <a:r>
              <a:rPr lang="en-US" altLang="en-US"/>
              <a:t>Accepts number characters to read from current line</a:t>
            </a:r>
          </a:p>
          <a:p>
            <a:pPr lvl="1"/>
            <a:r>
              <a:rPr lang="en-US" altLang="en-US"/>
              <a:t>Returns characters as a string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endParaRPr lang="en-US" altLang="en-US" sz="2200"/>
          </a:p>
          <a:p>
            <a:endParaRPr lang="en-US" altLang="en-US" sz="2000" b="1"/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AEBC93AC-C391-0B5A-1DDF-732F8712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AD7FBE-8EB2-47A8-A04D-A5BCAD88DE2B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A64198B-8AF2-5502-C5FB-666F57745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Characters from a Line (continued)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2160A91A-0043-4957-8077-F5015B56E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05800" cy="45720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&gt;&gt;&gt; text_file = open("read_it.txt", "r")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&gt;&gt;&gt; print text_file.readline()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Line 1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1800"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&gt;&gt;&gt; print text_file.readline()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This is line 2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altLang="en-US" sz="1800"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&gt;&gt;&gt; print text_file.readline()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en-US" sz="1800">
                <a:latin typeface="Courier New" panose="02070309020205020404" pitchFamily="49" charset="0"/>
              </a:rPr>
              <a:t>That makes this line 3</a:t>
            </a:r>
          </a:p>
          <a:p>
            <a:pPr fontAlgn="auto">
              <a:spcAft>
                <a:spcPts val="0"/>
              </a:spcAft>
              <a:defRPr/>
            </a:pPr>
            <a:endParaRPr lang="en-US" altLang="en-US" sz="1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1800">
                <a:latin typeface="Courier New" panose="02070309020205020404" pitchFamily="49" charset="0"/>
              </a:rPr>
              <a:t>readline()</a:t>
            </a:r>
            <a:r>
              <a:rPr lang="en-US" altLang="en-US" sz="2400"/>
              <a:t> </a:t>
            </a:r>
            <a:r>
              <a:rPr lang="en-US" altLang="en-US"/>
              <a:t>file object method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/>
              <a:t>Returns the entire line if no value passed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/>
              <a:t>Once you read all of the characters of a line (including the newline), the next line becomes current line 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C2C95D11-103E-02D0-B224-E3D3CD9B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C6EC90-5D31-402B-B691-A81189A658E2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122">
            <a:extLst>
              <a:ext uri="{FF2B5EF4-FFF2-40B4-BE49-F238E27FC236}">
                <a16:creationId xmlns:a16="http://schemas.microsoft.com/office/drawing/2014/main" id="{ED60E56D-6E8D-656C-9E41-7A79B78A6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All Lines into a List</a:t>
            </a:r>
          </a:p>
        </p:txBody>
      </p:sp>
      <p:sp>
        <p:nvSpPr>
          <p:cNvPr id="38915" name="Rectangle 5123">
            <a:extLst>
              <a:ext uri="{FF2B5EF4-FFF2-40B4-BE49-F238E27FC236}">
                <a16:creationId xmlns:a16="http://schemas.microsoft.com/office/drawing/2014/main" id="{31EAA140-CDCB-2E65-AC4D-87E45BE6E4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text_file = open("read_it.txt", "r")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lines = text_file.readlines()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print lines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['Line 1\n', 'This is line 2\n', 'That makes this line 3\n']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readlines()</a:t>
            </a:r>
            <a:r>
              <a:rPr lang="en-US" altLang="en-US"/>
              <a:t> file object method</a:t>
            </a:r>
          </a:p>
          <a:p>
            <a:pPr lvl="1"/>
            <a:r>
              <a:rPr lang="en-US" altLang="en-US"/>
              <a:t>Reads text file into a list</a:t>
            </a:r>
          </a:p>
          <a:p>
            <a:pPr lvl="1"/>
            <a:r>
              <a:rPr lang="en-US" altLang="en-US"/>
              <a:t>Returns list of strings</a:t>
            </a:r>
          </a:p>
          <a:p>
            <a:pPr lvl="1"/>
            <a:r>
              <a:rPr lang="en-US" altLang="en-US"/>
              <a:t>Each line of file becomes a string element in list 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3204A3A6-FBDA-497B-B8B0-D23D3AF9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BF4F05-7B8E-45AA-82F9-FDBE1352586A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CFF93F53-25A1-5038-7A34-953C737DD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Looping through a Text File</a:t>
            </a:r>
          </a:p>
        </p:txBody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CE048AFA-6F6A-733C-1EC0-6D40511DE8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text_file = open("read_it.txt", "r")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&gt;&gt;&gt; for line in text_file: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 print line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Line 1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This is line 2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That makes this line 3</a:t>
            </a: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/>
              <a:t>Can iterate over open text file, one line at a time</a:t>
            </a:r>
          </a:p>
          <a:p>
            <a:r>
              <a:rPr lang="en-US" altLang="en-US"/>
              <a:t>Technique available beginning in Python 2.2</a:t>
            </a:r>
          </a:p>
        </p:txBody>
      </p:sp>
      <p:sp>
        <p:nvSpPr>
          <p:cNvPr id="40964" name="Slide Number Placeholder 4">
            <a:extLst>
              <a:ext uri="{FF2B5EF4-FFF2-40B4-BE49-F238E27FC236}">
                <a16:creationId xmlns:a16="http://schemas.microsoft.com/office/drawing/2014/main" id="{88A6730B-2FC8-29BC-A740-2DD7B040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58F025-4B74-4B09-8045-438799B88B01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050">
            <a:extLst>
              <a:ext uri="{FF2B5EF4-FFF2-40B4-BE49-F238E27FC236}">
                <a16:creationId xmlns:a16="http://schemas.microsoft.com/office/drawing/2014/main" id="{8E41E9F4-1DDC-71EC-ED70-5418F7437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to a Text File</a:t>
            </a:r>
          </a:p>
        </p:txBody>
      </p:sp>
      <p:sp>
        <p:nvSpPr>
          <p:cNvPr id="43011" name="Rectangle 2051">
            <a:extLst>
              <a:ext uri="{FF2B5EF4-FFF2-40B4-BE49-F238E27FC236}">
                <a16:creationId xmlns:a16="http://schemas.microsoft.com/office/drawing/2014/main" id="{402BFBE4-85B3-F483-6371-9BBEDC8DF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Easy to write to text files</a:t>
            </a:r>
          </a:p>
          <a:p>
            <a:r>
              <a:rPr lang="en-US" altLang="en-US"/>
              <a:t>Two basic ways to write </a:t>
            </a:r>
          </a:p>
          <a:p>
            <a:endParaRPr lang="en-US" altLang="en-US"/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CA1F5E3A-7ABB-304C-101D-13355AA6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928892-C183-4DC9-A8A6-AECB3A47FA54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2A1908A-6DA7-FE9F-11D1-327645469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Strings to a Text File</a:t>
            </a:r>
          </a:p>
        </p:txBody>
      </p:sp>
      <p:sp>
        <p:nvSpPr>
          <p:cNvPr id="45059" name="Rectangle 6">
            <a:extLst>
              <a:ext uri="{FF2B5EF4-FFF2-40B4-BE49-F238E27FC236}">
                <a16:creationId xmlns:a16="http://schemas.microsoft.com/office/drawing/2014/main" id="{804DC7D4-A065-267F-BC01-D04A0297E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 = open("write_it.txt", "w")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text_file.write("Line 1\n")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text_file.write("This is line 2\n")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text_file.write("That makes this line 3\n")</a:t>
            </a:r>
          </a:p>
          <a:p>
            <a:pPr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write()</a:t>
            </a:r>
            <a:r>
              <a:rPr lang="en-US" altLang="en-US"/>
              <a:t> file object method writes new characters to file open for writing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 sz="2400" b="1"/>
          </a:p>
          <a:p>
            <a:pPr>
              <a:buFontTx/>
              <a:buNone/>
            </a:pPr>
            <a:endParaRPr lang="en-US" altLang="en-US" sz="2400"/>
          </a:p>
          <a:p>
            <a:endParaRPr lang="en-US" altLang="en-US" sz="2400"/>
          </a:p>
          <a:p>
            <a:endParaRPr lang="en-US" altLang="en-US" sz="3000">
              <a:latin typeface="SwiftEF-Regular" charset="0"/>
            </a:endParaRPr>
          </a:p>
          <a:p>
            <a:pPr>
              <a:buFontTx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3000"/>
          </a:p>
          <a:p>
            <a:pPr>
              <a:buFontTx/>
              <a:buNone/>
            </a:pPr>
            <a:endParaRPr lang="en-US" altLang="en-US" sz="2800"/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B65C3CE6-A1FA-C155-7B6E-454EED44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1F1F9-E942-4EAB-A88F-99107DDF0A5A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BDCA513-0DA8-0A87-7490-D37A67C0C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List of Strings to a Text File</a:t>
            </a: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1F8AC150-80A4-43FC-F547-4725951D30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 = open("write_it.txt", "w")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lines = ["Line 1\n", "This is line 2\n", "That makes this line 3\n"]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text_file.writelines(lines)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writelines()</a:t>
            </a:r>
            <a:r>
              <a:rPr lang="en-US" altLang="en-US"/>
              <a:t> file object method</a:t>
            </a:r>
          </a:p>
          <a:p>
            <a:pPr lvl="1"/>
            <a:r>
              <a:rPr lang="en-US" altLang="en-US"/>
              <a:t>Works with a list of strings</a:t>
            </a:r>
          </a:p>
          <a:p>
            <a:pPr lvl="1"/>
            <a:r>
              <a:rPr lang="en-US" altLang="en-US"/>
              <a:t>Writes list of strings to a file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endParaRPr lang="en-US" altLang="en-US" sz="3000"/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57254767-76D1-91E2-7ACF-24D3AF49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1BA0FA7-3318-43F9-BA17-0CE3361C3436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0FC9CAC-46EF-E5A7-AA45-980B48453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Selected Text File Methods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0C69A33-D719-49B3-F049-A82827FB2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endParaRPr lang="en-US" altLang="en-US" sz="3000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 sz="2000"/>
              <a:t>Table 7.2: Selected text file methods</a:t>
            </a:r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endParaRPr lang="en-US" altLang="en-US"/>
          </a:p>
          <a:p>
            <a:endParaRPr lang="en-US" altLang="en-US" sz="2400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49156" name="Slide Number Placeholder 4">
            <a:extLst>
              <a:ext uri="{FF2B5EF4-FFF2-40B4-BE49-F238E27FC236}">
                <a16:creationId xmlns:a16="http://schemas.microsoft.com/office/drawing/2014/main" id="{B556314C-ECEC-AAA6-75AE-F593F04E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70133E-A364-43D9-BD60-D425844EA8C4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400">
              <a:solidFill>
                <a:srgbClr val="22222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9157" name="Picture 4" descr="C:\Documents and Settings\Owner\Desktop\table7.2.jpg">
            <a:extLst>
              <a:ext uri="{FF2B5EF4-FFF2-40B4-BE49-F238E27FC236}">
                <a16:creationId xmlns:a16="http://schemas.microsoft.com/office/drawing/2014/main" id="{EB1CD9EF-0467-505C-26FA-121D14B39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891463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883AEC0-1AFD-E4B8-4E1B-D7DA84FCF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Python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00F29-F612-6976-8031-1BEB57ED7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Built In Functions: min(), max(), abs(), pow()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Built in Module: math module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C667F-307B-22C5-6FD8-E9DDAF78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65325-F2E0-8C2F-0D01-407733A3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C68BA5-8709-4825-92A3-0320BD21CD4B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135A4-EBD7-4737-FCE5-9BE86C09665A}"/>
              </a:ext>
            </a:extLst>
          </p:cNvPr>
          <p:cNvSpPr txBox="1"/>
          <p:nvPr/>
        </p:nvSpPr>
        <p:spPr>
          <a:xfrm>
            <a:off x="1066800" y="3410932"/>
            <a:ext cx="67818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import math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math.sqrt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64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     # returns square root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math.ceil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1.4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    # returns 2</a:t>
            </a:r>
            <a:br>
              <a:rPr lang="en-US" dirty="0">
                <a:latin typeface="+mn-lt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math.floor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1.4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   # returns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math.pi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#returns the value of Pi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#and many more…..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0E673308-C05A-4805-9D3D-4457D08A5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99D8-66FA-93A6-1629-7D9692075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Import the datetime module and display the current date: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ABF74-270A-3B92-C39F-2C49CF77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712E7-5B59-28B7-B0E0-F826E014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DA9D2B-D013-4D4A-B1BC-30B84151F42B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30750-F941-ABB6-1C70-F36E313AFF0A}"/>
              </a:ext>
            </a:extLst>
          </p:cNvPr>
          <p:cNvSpPr txBox="1"/>
          <p:nvPr/>
        </p:nvSpPr>
        <p:spPr>
          <a:xfrm>
            <a:off x="838200" y="2800965"/>
            <a:ext cx="36576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datetime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datetime.datetime.now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DD4F9E8-0D17-095F-E09B-D41CBEC58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Date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E173-9E6C-FA6B-2825-55016BDC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auto">
              <a:spcAft>
                <a:spcPts val="0"/>
              </a:spcAft>
              <a:defRPr/>
            </a:pPr>
            <a:r>
              <a:rPr lang="en-US" dirty="0"/>
              <a:t>To create a date, use the datetime() class (constructor) of the datetime module. The datetime() class requires three parameters to create a date: year, month, day.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1C229-DCBF-4EE4-B07F-2811477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Guide to Programming with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3FC2A-E6FA-C479-D8C6-FB8D5BFB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10A4E-E18D-4AA5-A9CE-6646EF6C58FD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3254" name="TextBox 6">
            <a:extLst>
              <a:ext uri="{FF2B5EF4-FFF2-40B4-BE49-F238E27FC236}">
                <a16:creationId xmlns:a16="http://schemas.microsoft.com/office/drawing/2014/main" id="{4A829382-C255-28F7-F196-4A9602AB9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48000"/>
            <a:ext cx="4267200" cy="1476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import datetime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x = </a:t>
            </a:r>
            <a:r>
              <a:rPr lang="en-US" altLang="en-US" dirty="0" err="1"/>
              <a:t>datetime.datetime</a:t>
            </a:r>
            <a:r>
              <a:rPr lang="en-US" altLang="en-US" dirty="0"/>
              <a:t>(2020, 5, 17)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print(x)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</TotalTime>
  <Words>1101</Words>
  <Application>Microsoft Office PowerPoint</Application>
  <PresentationFormat>On-screen Show (4:3)</PresentationFormat>
  <Paragraphs>207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</vt:lpstr>
      <vt:lpstr>Arial</vt:lpstr>
      <vt:lpstr>Calibri Light</vt:lpstr>
      <vt:lpstr>Times New Roman</vt:lpstr>
      <vt:lpstr>MS PGothic</vt:lpstr>
      <vt:lpstr>Courier New</vt:lpstr>
      <vt:lpstr>SwiftEF-Regular</vt:lpstr>
      <vt:lpstr>Verdana</vt:lpstr>
      <vt:lpstr>Office Theme</vt:lpstr>
      <vt:lpstr>File Handling</vt:lpstr>
      <vt:lpstr>Objectives</vt:lpstr>
      <vt:lpstr>Reading from Text Files</vt:lpstr>
      <vt:lpstr>Reading &amp; Writing Files - Overview</vt:lpstr>
      <vt:lpstr>The Read It Program</vt:lpstr>
      <vt:lpstr>Opening and Closing a Text File</vt:lpstr>
      <vt:lpstr>Opening and Closing a Text File (continued) </vt:lpstr>
      <vt:lpstr>Opening and Closing a Text File (continued) </vt:lpstr>
      <vt:lpstr>Reading Characters from a Text File</vt:lpstr>
      <vt:lpstr>Reading Characters from a Text File (continued)</vt:lpstr>
      <vt:lpstr>Reading Characters from a Line</vt:lpstr>
      <vt:lpstr>Reading Characters from a Line (continued) </vt:lpstr>
      <vt:lpstr>Reading All Lines into a List</vt:lpstr>
      <vt:lpstr>Looping through a Text File</vt:lpstr>
      <vt:lpstr>Writing to a Text File</vt:lpstr>
      <vt:lpstr>Writing Strings to a Text File</vt:lpstr>
      <vt:lpstr>Writing a List of Strings to a Text File</vt:lpstr>
      <vt:lpstr>Selected Text File Methods</vt:lpstr>
      <vt:lpstr>Python Math</vt:lpstr>
      <vt:lpstr>Dates</vt:lpstr>
      <vt:lpstr>Creating Date Objects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subject/>
  <dc:creator>HP</dc:creator>
  <cp:lastModifiedBy>Mazharul Islam Tusher</cp:lastModifiedBy>
  <cp:revision>382</cp:revision>
  <dcterms:created xsi:type="dcterms:W3CDTF">2009-10-05T04:18:25Z</dcterms:created>
  <dcterms:modified xsi:type="dcterms:W3CDTF">2024-05-24T11:30:53Z</dcterms:modified>
</cp:coreProperties>
</file>